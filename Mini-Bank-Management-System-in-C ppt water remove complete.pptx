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</p:sldIdLst>
  <p:sldSz cx="11430000" cy="8896350"/>
  <p:notesSz cx="11430000" cy="8896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0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3B34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3B34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038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6456" y="425450"/>
            <a:ext cx="8504555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F1E1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43564" y="1715325"/>
            <a:ext cx="5908675" cy="4425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3B34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2378075"/>
            <a:ext cx="5223510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spc="70" dirty="0"/>
              <a:t>Mini</a:t>
            </a:r>
            <a:r>
              <a:rPr spc="-65" dirty="0"/>
              <a:t> </a:t>
            </a:r>
            <a:r>
              <a:rPr spc="60" dirty="0"/>
              <a:t>Bank</a:t>
            </a:r>
            <a:r>
              <a:rPr spc="-65" dirty="0"/>
              <a:t> </a:t>
            </a:r>
            <a:r>
              <a:rPr spc="75" dirty="0"/>
              <a:t>Management </a:t>
            </a:r>
            <a:r>
              <a:rPr dirty="0"/>
              <a:t>System</a:t>
            </a:r>
            <a:r>
              <a:rPr spc="85" dirty="0"/>
              <a:t> </a:t>
            </a:r>
            <a:r>
              <a:rPr dirty="0"/>
              <a:t>in</a:t>
            </a:r>
            <a:r>
              <a:rPr spc="100" dirty="0"/>
              <a:t> </a:t>
            </a:r>
            <a:r>
              <a:rPr spc="35" dirty="0"/>
              <a:t>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7311" y="3748722"/>
            <a:ext cx="578612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11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comprehensive</a:t>
            </a:r>
            <a:r>
              <a:rPr sz="1250" spc="-8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overview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its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design,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functionality,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advantages.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311" y="1425575"/>
            <a:ext cx="384619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Table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060" y="2300922"/>
            <a:ext cx="20129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25" dirty="0">
                <a:solidFill>
                  <a:srgbClr val="3B3434"/>
                </a:solidFill>
                <a:latin typeface="Tahoma"/>
                <a:cs typeface="Tahoma"/>
              </a:rPr>
              <a:t>01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2571749"/>
            <a:ext cx="3324225" cy="19050"/>
          </a:xfrm>
          <a:custGeom>
            <a:avLst/>
            <a:gdLst/>
            <a:ahLst/>
            <a:cxnLst/>
            <a:rect l="l" t="t" r="r" b="b"/>
            <a:pathLst>
              <a:path w="3324225" h="19050">
                <a:moveTo>
                  <a:pt x="3324225" y="0"/>
                </a:moveTo>
                <a:lnTo>
                  <a:pt x="0" y="0"/>
                </a:lnTo>
                <a:lnTo>
                  <a:pt x="0" y="19050"/>
                </a:lnTo>
                <a:lnTo>
                  <a:pt x="3324225" y="19050"/>
                </a:lnTo>
                <a:lnTo>
                  <a:pt x="3324225" y="0"/>
                </a:lnTo>
                <a:close/>
              </a:path>
            </a:pathLst>
          </a:custGeom>
          <a:solidFill>
            <a:srgbClr val="1A2D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6883" y="2668587"/>
            <a:ext cx="2890520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Abstract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Summarizing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core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70" dirty="0">
                <a:solidFill>
                  <a:srgbClr val="3B3434"/>
                </a:solidFill>
                <a:latin typeface="Verdana"/>
                <a:cs typeface="Verdana"/>
              </a:rPr>
              <a:t>concept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and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objectives.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8315" y="2300922"/>
            <a:ext cx="23495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105" dirty="0">
                <a:solidFill>
                  <a:srgbClr val="3B3434"/>
                </a:solidFill>
                <a:latin typeface="Tahoma"/>
                <a:cs typeface="Tahoma"/>
              </a:rPr>
              <a:t>02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57650" y="2571749"/>
            <a:ext cx="3314700" cy="19050"/>
          </a:xfrm>
          <a:custGeom>
            <a:avLst/>
            <a:gdLst/>
            <a:ahLst/>
            <a:cxnLst/>
            <a:rect l="l" t="t" r="r" b="b"/>
            <a:pathLst>
              <a:path w="3314700" h="19050">
                <a:moveTo>
                  <a:pt x="3314700" y="0"/>
                </a:moveTo>
                <a:lnTo>
                  <a:pt x="0" y="0"/>
                </a:lnTo>
                <a:lnTo>
                  <a:pt x="0" y="19050"/>
                </a:lnTo>
                <a:lnTo>
                  <a:pt x="3314700" y="19050"/>
                </a:lnTo>
                <a:lnTo>
                  <a:pt x="3314700" y="0"/>
                </a:lnTo>
                <a:close/>
              </a:path>
            </a:pathLst>
          </a:custGeom>
          <a:solidFill>
            <a:srgbClr val="1A2D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41521" y="2668587"/>
            <a:ext cx="275780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Introduction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Setting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 stage for the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system's purpose.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01775" y="2300922"/>
            <a:ext cx="236854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110" dirty="0">
                <a:solidFill>
                  <a:srgbClr val="3B3434"/>
                </a:solidFill>
                <a:latin typeface="Tahoma"/>
                <a:cs typeface="Tahoma"/>
              </a:rPr>
              <a:t>03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34275" y="2571749"/>
            <a:ext cx="3324225" cy="19050"/>
          </a:xfrm>
          <a:custGeom>
            <a:avLst/>
            <a:gdLst/>
            <a:ahLst/>
            <a:cxnLst/>
            <a:rect l="l" t="t" r="r" b="b"/>
            <a:pathLst>
              <a:path w="3324225" h="19050">
                <a:moveTo>
                  <a:pt x="3324225" y="0"/>
                </a:moveTo>
                <a:lnTo>
                  <a:pt x="0" y="0"/>
                </a:lnTo>
                <a:lnTo>
                  <a:pt x="0" y="19050"/>
                </a:lnTo>
                <a:lnTo>
                  <a:pt x="3324225" y="19050"/>
                </a:lnTo>
                <a:lnTo>
                  <a:pt x="3324225" y="0"/>
                </a:lnTo>
                <a:close/>
              </a:path>
            </a:pathLst>
          </a:custGeom>
          <a:solidFill>
            <a:srgbClr val="1A2D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525308" y="2668587"/>
            <a:ext cx="3310254" cy="6153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45" dirty="0">
                <a:solidFill>
                  <a:srgbClr val="3B3434"/>
                </a:solidFill>
                <a:latin typeface="Tahoma"/>
                <a:cs typeface="Tahoma"/>
              </a:rPr>
              <a:t>Application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Exploring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real-world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uses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scenarios.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2900" y="3843972"/>
            <a:ext cx="23749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114" dirty="0">
                <a:solidFill>
                  <a:srgbClr val="3B3434"/>
                </a:solidFill>
                <a:latin typeface="Tahoma"/>
                <a:cs typeface="Tahoma"/>
              </a:rPr>
              <a:t>04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500" y="4114800"/>
            <a:ext cx="5057775" cy="19050"/>
          </a:xfrm>
          <a:custGeom>
            <a:avLst/>
            <a:gdLst/>
            <a:ahLst/>
            <a:cxnLst/>
            <a:rect l="l" t="t" r="r" b="b"/>
            <a:pathLst>
              <a:path w="5057775" h="19050">
                <a:moveTo>
                  <a:pt x="5057775" y="0"/>
                </a:moveTo>
                <a:lnTo>
                  <a:pt x="0" y="0"/>
                </a:lnTo>
                <a:lnTo>
                  <a:pt x="0" y="19050"/>
                </a:lnTo>
                <a:lnTo>
                  <a:pt x="5057775" y="19050"/>
                </a:lnTo>
                <a:lnTo>
                  <a:pt x="5057775" y="0"/>
                </a:lnTo>
                <a:close/>
              </a:path>
            </a:pathLst>
          </a:custGeom>
          <a:solidFill>
            <a:srgbClr val="1A2D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7311" y="4221162"/>
            <a:ext cx="3874135" cy="605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40" dirty="0">
                <a:solidFill>
                  <a:srgbClr val="3B3434"/>
                </a:solidFill>
                <a:latin typeface="Tahoma"/>
                <a:cs typeface="Tahoma"/>
              </a:rPr>
              <a:t>Methodology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Comparing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existing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proposed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approaches.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57212" y="3843972"/>
            <a:ext cx="24193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130" dirty="0">
                <a:solidFill>
                  <a:srgbClr val="3B3434"/>
                </a:solidFill>
                <a:latin typeface="Tahoma"/>
                <a:cs typeface="Tahoma"/>
              </a:rPr>
              <a:t>05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00725" y="4114800"/>
            <a:ext cx="5057775" cy="19050"/>
          </a:xfrm>
          <a:custGeom>
            <a:avLst/>
            <a:gdLst/>
            <a:ahLst/>
            <a:cxnLst/>
            <a:rect l="l" t="t" r="r" b="b"/>
            <a:pathLst>
              <a:path w="5057775" h="19050">
                <a:moveTo>
                  <a:pt x="5057775" y="0"/>
                </a:moveTo>
                <a:lnTo>
                  <a:pt x="0" y="0"/>
                </a:lnTo>
                <a:lnTo>
                  <a:pt x="0" y="19050"/>
                </a:lnTo>
                <a:lnTo>
                  <a:pt x="5057775" y="19050"/>
                </a:lnTo>
                <a:lnTo>
                  <a:pt x="5057775" y="0"/>
                </a:lnTo>
                <a:close/>
              </a:path>
            </a:pathLst>
          </a:custGeom>
          <a:solidFill>
            <a:srgbClr val="1A2D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783275" y="4221162"/>
            <a:ext cx="3413125" cy="605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Architecture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Visualizing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system's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structural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design.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6456" y="3568700"/>
            <a:ext cx="824738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b="1" dirty="0">
                <a:solidFill>
                  <a:srgbClr val="1F1E1E"/>
                </a:solidFill>
                <a:latin typeface="Tahoma"/>
                <a:cs typeface="Tahoma"/>
              </a:rPr>
              <a:t>Abstract:</a:t>
            </a:r>
            <a:r>
              <a:rPr sz="3350" b="1" spc="-50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3350" b="1" spc="55" dirty="0">
                <a:solidFill>
                  <a:srgbClr val="1F1E1E"/>
                </a:solidFill>
                <a:latin typeface="Tahoma"/>
                <a:cs typeface="Tahoma"/>
              </a:rPr>
              <a:t>Streamlined</a:t>
            </a:r>
            <a:r>
              <a:rPr sz="3350" b="1" spc="-4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3350" b="1" spc="55" dirty="0">
                <a:solidFill>
                  <a:srgbClr val="1F1E1E"/>
                </a:solidFill>
                <a:latin typeface="Tahoma"/>
                <a:cs typeface="Tahoma"/>
              </a:rPr>
              <a:t>Banking</a:t>
            </a:r>
            <a:r>
              <a:rPr sz="3350" b="1" spc="-50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3350" b="1" spc="75" dirty="0">
                <a:solidFill>
                  <a:srgbClr val="1F1E1E"/>
                </a:solidFill>
                <a:latin typeface="Tahoma"/>
                <a:cs typeface="Tahoma"/>
              </a:rPr>
              <a:t>with</a:t>
            </a:r>
            <a:r>
              <a:rPr sz="3350" b="1" spc="-4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3350" b="1" spc="35" dirty="0">
                <a:solidFill>
                  <a:srgbClr val="1F1E1E"/>
                </a:solidFill>
                <a:latin typeface="Tahoma"/>
                <a:cs typeface="Tahoma"/>
              </a:rPr>
              <a:t>C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311" y="4296600"/>
            <a:ext cx="9689465" cy="558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project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details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development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a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Mini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Bank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Management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System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using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40" dirty="0">
                <a:solidFill>
                  <a:srgbClr val="3B3434"/>
                </a:solidFill>
                <a:latin typeface="Verdana"/>
                <a:cs typeface="Verdana"/>
              </a:rPr>
              <a:t>C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programming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language.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It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aims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0" dirty="0">
                <a:solidFill>
                  <a:srgbClr val="3B3434"/>
                </a:solidFill>
                <a:latin typeface="Verdana"/>
                <a:cs typeface="Verdana"/>
              </a:rPr>
              <a:t>to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provide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robust,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efficient,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user-friendly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console-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based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application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basic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banking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operations.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3564" y="2016125"/>
            <a:ext cx="5629275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/>
              <a:t>Introduction</a:t>
            </a:r>
            <a:r>
              <a:rPr spc="30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spc="70" dirty="0"/>
              <a:t>Mini</a:t>
            </a:r>
            <a:r>
              <a:rPr spc="25" dirty="0"/>
              <a:t> </a:t>
            </a:r>
            <a:r>
              <a:rPr spc="40" dirty="0"/>
              <a:t>Bank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43564" y="3286950"/>
            <a:ext cx="5954395" cy="10731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140"/>
              </a:spcBef>
            </a:pP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In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today's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digital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age,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efficient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financial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management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is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crucial.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mini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bank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management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system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serves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as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foundational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model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for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understanding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core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banking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functionalities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through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simple,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command-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line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interface.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86825"/>
          </a:xfrm>
          <a:custGeom>
            <a:avLst/>
            <a:gdLst/>
            <a:ahLst/>
            <a:cxnLst/>
            <a:rect l="l" t="t" r="r" b="b"/>
            <a:pathLst>
              <a:path w="11430000" h="8886825">
                <a:moveTo>
                  <a:pt x="11430000" y="0"/>
                </a:moveTo>
                <a:lnTo>
                  <a:pt x="0" y="0"/>
                </a:lnTo>
                <a:lnTo>
                  <a:pt x="0" y="8886825"/>
                </a:lnTo>
                <a:lnTo>
                  <a:pt x="11430000" y="88868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80" dirty="0"/>
              <a:t>Applications</a:t>
            </a:r>
            <a:r>
              <a:rPr spc="-70" dirty="0"/>
              <a:t> </a:t>
            </a:r>
            <a:r>
              <a:rPr spc="100" dirty="0"/>
              <a:t>and</a:t>
            </a:r>
            <a:r>
              <a:rPr spc="-65" dirty="0"/>
              <a:t> </a:t>
            </a:r>
            <a:r>
              <a:rPr dirty="0"/>
              <a:t>Use</a:t>
            </a:r>
            <a:r>
              <a:rPr spc="-65" dirty="0"/>
              <a:t> </a:t>
            </a:r>
            <a:r>
              <a:rPr spc="-10" dirty="0"/>
              <a:t>Cases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7311" y="1239075"/>
            <a:ext cx="10236200" cy="558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system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offers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practical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utility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beyond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academic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exercise,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serving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as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template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small-scale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financial</a:t>
            </a:r>
            <a:r>
              <a:rPr sz="1250" spc="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record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keeping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or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educational</a:t>
            </a:r>
            <a:r>
              <a:rPr sz="1250" spc="1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tools.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7311" y="2154237"/>
            <a:ext cx="4824095" cy="681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0" dirty="0">
                <a:solidFill>
                  <a:srgbClr val="1F1E1E"/>
                </a:solidFill>
                <a:latin typeface="Tahoma"/>
                <a:cs typeface="Tahoma"/>
              </a:rPr>
              <a:t>Educational</a:t>
            </a:r>
            <a:r>
              <a:rPr sz="1650" b="1" spc="-20" dirty="0">
                <a:solidFill>
                  <a:srgbClr val="1F1E1E"/>
                </a:solidFill>
                <a:latin typeface="Tahoma"/>
                <a:cs typeface="Tahoma"/>
              </a:rPr>
              <a:t> Tool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students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learning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data structures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file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handling in</a:t>
            </a:r>
            <a:r>
              <a:rPr sz="1250" spc="-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C.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048000"/>
            <a:ext cx="4943474" cy="49529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10516" y="2154237"/>
            <a:ext cx="4257675" cy="9391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1F1E1E"/>
                </a:solidFill>
                <a:latin typeface="Tahoma"/>
                <a:cs typeface="Tahoma"/>
              </a:rPr>
              <a:t>Small-Scale</a:t>
            </a:r>
            <a:r>
              <a:rPr sz="1650" b="1" spc="305" dirty="0">
                <a:solidFill>
                  <a:srgbClr val="1F1E1E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1F1E1E"/>
                </a:solidFill>
                <a:latin typeface="Tahoma"/>
                <a:cs typeface="Tahoma"/>
              </a:rPr>
              <a:t>Finance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112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Managing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basic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accounts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personal</a:t>
            </a:r>
            <a:r>
              <a:rPr sz="1250" spc="-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use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or</a:t>
            </a:r>
            <a:r>
              <a:rPr sz="1250" spc="-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micro- businesses.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4550" y="3314700"/>
            <a:ext cx="4943474" cy="49434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1111250"/>
            <a:ext cx="514731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Existing</a:t>
            </a:r>
            <a:r>
              <a:rPr spc="185" dirty="0"/>
              <a:t> </a:t>
            </a:r>
            <a:r>
              <a:rPr spc="45" dirty="0"/>
              <a:t>Methodologies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71500" y="2609849"/>
            <a:ext cx="361950" cy="371475"/>
            <a:chOff x="571500" y="2609849"/>
            <a:chExt cx="361950" cy="371475"/>
          </a:xfrm>
        </p:grpSpPr>
        <p:sp>
          <p:nvSpPr>
            <p:cNvPr id="7" name="object 7"/>
            <p:cNvSpPr/>
            <p:nvPr/>
          </p:nvSpPr>
          <p:spPr>
            <a:xfrm>
              <a:off x="576262" y="2614612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303610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309702"/>
                  </a:lnTo>
                  <a:lnTo>
                    <a:pt x="0" y="313131"/>
                  </a:lnTo>
                  <a:lnTo>
                    <a:pt x="17725" y="349072"/>
                  </a:lnTo>
                  <a:lnTo>
                    <a:pt x="48816" y="361950"/>
                  </a:lnTo>
                  <a:lnTo>
                    <a:pt x="303610" y="361950"/>
                  </a:lnTo>
                  <a:lnTo>
                    <a:pt x="339545" y="344220"/>
                  </a:lnTo>
                  <a:lnTo>
                    <a:pt x="352425" y="313131"/>
                  </a:lnTo>
                  <a:lnTo>
                    <a:pt x="352425" y="48806"/>
                  </a:lnTo>
                  <a:lnTo>
                    <a:pt x="334694" y="12877"/>
                  </a:lnTo>
                  <a:lnTo>
                    <a:pt x="307007" y="330"/>
                  </a:lnTo>
                  <a:lnTo>
                    <a:pt x="303610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6262" y="2614612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30970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300181" y="0"/>
                  </a:lnTo>
                  <a:lnTo>
                    <a:pt x="303610" y="0"/>
                  </a:lnTo>
                  <a:lnTo>
                    <a:pt x="307007" y="330"/>
                  </a:lnTo>
                  <a:lnTo>
                    <a:pt x="310371" y="1003"/>
                  </a:lnTo>
                  <a:lnTo>
                    <a:pt x="313739" y="1676"/>
                  </a:lnTo>
                  <a:lnTo>
                    <a:pt x="317003" y="2667"/>
                  </a:lnTo>
                  <a:lnTo>
                    <a:pt x="320173" y="3975"/>
                  </a:lnTo>
                  <a:lnTo>
                    <a:pt x="323344" y="5283"/>
                  </a:lnTo>
                  <a:lnTo>
                    <a:pt x="348446" y="32258"/>
                  </a:lnTo>
                  <a:lnTo>
                    <a:pt x="349760" y="35420"/>
                  </a:lnTo>
                  <a:lnTo>
                    <a:pt x="350753" y="38684"/>
                  </a:lnTo>
                  <a:lnTo>
                    <a:pt x="351422" y="42049"/>
                  </a:lnTo>
                  <a:lnTo>
                    <a:pt x="352092" y="45415"/>
                  </a:lnTo>
                  <a:lnTo>
                    <a:pt x="352425" y="48806"/>
                  </a:lnTo>
                  <a:lnTo>
                    <a:pt x="352425" y="52247"/>
                  </a:lnTo>
                  <a:lnTo>
                    <a:pt x="352425" y="309702"/>
                  </a:lnTo>
                  <a:lnTo>
                    <a:pt x="352425" y="313131"/>
                  </a:lnTo>
                  <a:lnTo>
                    <a:pt x="352092" y="316534"/>
                  </a:lnTo>
                  <a:lnTo>
                    <a:pt x="337120" y="346646"/>
                  </a:lnTo>
                  <a:lnTo>
                    <a:pt x="334694" y="349072"/>
                  </a:lnTo>
                  <a:lnTo>
                    <a:pt x="310371" y="360946"/>
                  </a:lnTo>
                  <a:lnTo>
                    <a:pt x="307007" y="361619"/>
                  </a:lnTo>
                  <a:lnTo>
                    <a:pt x="303610" y="361950"/>
                  </a:lnTo>
                  <a:lnTo>
                    <a:pt x="300181" y="361950"/>
                  </a:lnTo>
                  <a:lnTo>
                    <a:pt x="52243" y="361950"/>
                  </a:lnTo>
                  <a:lnTo>
                    <a:pt x="48816" y="361950"/>
                  </a:lnTo>
                  <a:lnTo>
                    <a:pt x="45417" y="361619"/>
                  </a:lnTo>
                  <a:lnTo>
                    <a:pt x="42053" y="360946"/>
                  </a:lnTo>
                  <a:lnTo>
                    <a:pt x="38685" y="360273"/>
                  </a:lnTo>
                  <a:lnTo>
                    <a:pt x="23216" y="353148"/>
                  </a:lnTo>
                  <a:lnTo>
                    <a:pt x="20364" y="351243"/>
                  </a:lnTo>
                  <a:lnTo>
                    <a:pt x="17725" y="349072"/>
                  </a:lnTo>
                  <a:lnTo>
                    <a:pt x="15304" y="346646"/>
                  </a:lnTo>
                  <a:lnTo>
                    <a:pt x="12879" y="344220"/>
                  </a:lnTo>
                  <a:lnTo>
                    <a:pt x="0" y="313131"/>
                  </a:lnTo>
                  <a:lnTo>
                    <a:pt x="0" y="30970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192" y="2680519"/>
              <a:ext cx="268565" cy="23251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71500" y="3619500"/>
            <a:ext cx="361950" cy="371475"/>
            <a:chOff x="571500" y="3619500"/>
            <a:chExt cx="361950" cy="371475"/>
          </a:xfrm>
        </p:grpSpPr>
        <p:sp>
          <p:nvSpPr>
            <p:cNvPr id="11" name="object 11"/>
            <p:cNvSpPr/>
            <p:nvPr/>
          </p:nvSpPr>
          <p:spPr>
            <a:xfrm>
              <a:off x="576262" y="3624262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303610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309702"/>
                  </a:lnTo>
                  <a:lnTo>
                    <a:pt x="0" y="313131"/>
                  </a:lnTo>
                  <a:lnTo>
                    <a:pt x="17725" y="349072"/>
                  </a:lnTo>
                  <a:lnTo>
                    <a:pt x="48816" y="361950"/>
                  </a:lnTo>
                  <a:lnTo>
                    <a:pt x="303610" y="361950"/>
                  </a:lnTo>
                  <a:lnTo>
                    <a:pt x="339545" y="344220"/>
                  </a:lnTo>
                  <a:lnTo>
                    <a:pt x="352425" y="313131"/>
                  </a:lnTo>
                  <a:lnTo>
                    <a:pt x="352425" y="48806"/>
                  </a:lnTo>
                  <a:lnTo>
                    <a:pt x="334694" y="12877"/>
                  </a:lnTo>
                  <a:lnTo>
                    <a:pt x="307007" y="330"/>
                  </a:lnTo>
                  <a:lnTo>
                    <a:pt x="303610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6262" y="3624262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30970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300181" y="0"/>
                  </a:lnTo>
                  <a:lnTo>
                    <a:pt x="303610" y="0"/>
                  </a:lnTo>
                  <a:lnTo>
                    <a:pt x="307007" y="330"/>
                  </a:lnTo>
                  <a:lnTo>
                    <a:pt x="310371" y="1003"/>
                  </a:lnTo>
                  <a:lnTo>
                    <a:pt x="313739" y="1676"/>
                  </a:lnTo>
                  <a:lnTo>
                    <a:pt x="317003" y="2667"/>
                  </a:lnTo>
                  <a:lnTo>
                    <a:pt x="320173" y="3975"/>
                  </a:lnTo>
                  <a:lnTo>
                    <a:pt x="323344" y="5283"/>
                  </a:lnTo>
                  <a:lnTo>
                    <a:pt x="348446" y="32258"/>
                  </a:lnTo>
                  <a:lnTo>
                    <a:pt x="349760" y="35420"/>
                  </a:lnTo>
                  <a:lnTo>
                    <a:pt x="350753" y="38684"/>
                  </a:lnTo>
                  <a:lnTo>
                    <a:pt x="351422" y="42049"/>
                  </a:lnTo>
                  <a:lnTo>
                    <a:pt x="352092" y="45415"/>
                  </a:lnTo>
                  <a:lnTo>
                    <a:pt x="352425" y="48806"/>
                  </a:lnTo>
                  <a:lnTo>
                    <a:pt x="352425" y="52247"/>
                  </a:lnTo>
                  <a:lnTo>
                    <a:pt x="352425" y="309702"/>
                  </a:lnTo>
                  <a:lnTo>
                    <a:pt x="352425" y="313131"/>
                  </a:lnTo>
                  <a:lnTo>
                    <a:pt x="352092" y="316534"/>
                  </a:lnTo>
                  <a:lnTo>
                    <a:pt x="351422" y="319900"/>
                  </a:lnTo>
                  <a:lnTo>
                    <a:pt x="350753" y="323265"/>
                  </a:lnTo>
                  <a:lnTo>
                    <a:pt x="349760" y="326529"/>
                  </a:lnTo>
                  <a:lnTo>
                    <a:pt x="348446" y="329692"/>
                  </a:lnTo>
                  <a:lnTo>
                    <a:pt x="347136" y="332867"/>
                  </a:lnTo>
                  <a:lnTo>
                    <a:pt x="337120" y="346646"/>
                  </a:lnTo>
                  <a:lnTo>
                    <a:pt x="334694" y="349072"/>
                  </a:lnTo>
                  <a:lnTo>
                    <a:pt x="310371" y="360946"/>
                  </a:lnTo>
                  <a:lnTo>
                    <a:pt x="307007" y="361619"/>
                  </a:lnTo>
                  <a:lnTo>
                    <a:pt x="303610" y="361950"/>
                  </a:lnTo>
                  <a:lnTo>
                    <a:pt x="300181" y="361950"/>
                  </a:lnTo>
                  <a:lnTo>
                    <a:pt x="52243" y="361950"/>
                  </a:lnTo>
                  <a:lnTo>
                    <a:pt x="48816" y="361950"/>
                  </a:lnTo>
                  <a:lnTo>
                    <a:pt x="45417" y="361619"/>
                  </a:lnTo>
                  <a:lnTo>
                    <a:pt x="42053" y="360946"/>
                  </a:lnTo>
                  <a:lnTo>
                    <a:pt x="38685" y="360273"/>
                  </a:lnTo>
                  <a:lnTo>
                    <a:pt x="23216" y="353148"/>
                  </a:lnTo>
                  <a:lnTo>
                    <a:pt x="20364" y="351243"/>
                  </a:lnTo>
                  <a:lnTo>
                    <a:pt x="17725" y="349072"/>
                  </a:lnTo>
                  <a:lnTo>
                    <a:pt x="15304" y="346646"/>
                  </a:lnTo>
                  <a:lnTo>
                    <a:pt x="12879" y="344220"/>
                  </a:lnTo>
                  <a:lnTo>
                    <a:pt x="0" y="313131"/>
                  </a:lnTo>
                  <a:lnTo>
                    <a:pt x="0" y="30970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235" y="3672204"/>
              <a:ext cx="268478" cy="268440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71500" y="4629150"/>
            <a:ext cx="361950" cy="361950"/>
            <a:chOff x="571500" y="4629150"/>
            <a:chExt cx="361950" cy="361950"/>
          </a:xfrm>
        </p:grpSpPr>
        <p:sp>
          <p:nvSpPr>
            <p:cNvPr id="15" name="object 15"/>
            <p:cNvSpPr/>
            <p:nvPr/>
          </p:nvSpPr>
          <p:spPr>
            <a:xfrm>
              <a:off x="576262" y="4633912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03610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300177"/>
                  </a:lnTo>
                  <a:lnTo>
                    <a:pt x="0" y="303606"/>
                  </a:lnTo>
                  <a:lnTo>
                    <a:pt x="17725" y="339547"/>
                  </a:lnTo>
                  <a:lnTo>
                    <a:pt x="48816" y="352425"/>
                  </a:lnTo>
                  <a:lnTo>
                    <a:pt x="303610" y="352425"/>
                  </a:lnTo>
                  <a:lnTo>
                    <a:pt x="339545" y="334695"/>
                  </a:lnTo>
                  <a:lnTo>
                    <a:pt x="352425" y="303606"/>
                  </a:lnTo>
                  <a:lnTo>
                    <a:pt x="352425" y="48806"/>
                  </a:lnTo>
                  <a:lnTo>
                    <a:pt x="334694" y="12877"/>
                  </a:lnTo>
                  <a:lnTo>
                    <a:pt x="307007" y="330"/>
                  </a:lnTo>
                  <a:lnTo>
                    <a:pt x="303610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6262" y="4633912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0" y="300177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300181" y="0"/>
                  </a:lnTo>
                  <a:lnTo>
                    <a:pt x="303610" y="0"/>
                  </a:lnTo>
                  <a:lnTo>
                    <a:pt x="307007" y="330"/>
                  </a:lnTo>
                  <a:lnTo>
                    <a:pt x="310371" y="1003"/>
                  </a:lnTo>
                  <a:lnTo>
                    <a:pt x="313739" y="1676"/>
                  </a:lnTo>
                  <a:lnTo>
                    <a:pt x="317003" y="2667"/>
                  </a:lnTo>
                  <a:lnTo>
                    <a:pt x="320173" y="3975"/>
                  </a:lnTo>
                  <a:lnTo>
                    <a:pt x="323344" y="5283"/>
                  </a:lnTo>
                  <a:lnTo>
                    <a:pt x="337120" y="15303"/>
                  </a:lnTo>
                  <a:lnTo>
                    <a:pt x="339545" y="17729"/>
                  </a:lnTo>
                  <a:lnTo>
                    <a:pt x="348446" y="32258"/>
                  </a:lnTo>
                  <a:lnTo>
                    <a:pt x="349760" y="35420"/>
                  </a:lnTo>
                  <a:lnTo>
                    <a:pt x="350753" y="38684"/>
                  </a:lnTo>
                  <a:lnTo>
                    <a:pt x="351422" y="42049"/>
                  </a:lnTo>
                  <a:lnTo>
                    <a:pt x="352092" y="45415"/>
                  </a:lnTo>
                  <a:lnTo>
                    <a:pt x="352425" y="48806"/>
                  </a:lnTo>
                  <a:lnTo>
                    <a:pt x="352425" y="52247"/>
                  </a:lnTo>
                  <a:lnTo>
                    <a:pt x="352425" y="300177"/>
                  </a:lnTo>
                  <a:lnTo>
                    <a:pt x="352425" y="303606"/>
                  </a:lnTo>
                  <a:lnTo>
                    <a:pt x="352092" y="307009"/>
                  </a:lnTo>
                  <a:lnTo>
                    <a:pt x="351422" y="310375"/>
                  </a:lnTo>
                  <a:lnTo>
                    <a:pt x="350753" y="313740"/>
                  </a:lnTo>
                  <a:lnTo>
                    <a:pt x="349760" y="317004"/>
                  </a:lnTo>
                  <a:lnTo>
                    <a:pt x="348446" y="320167"/>
                  </a:lnTo>
                  <a:lnTo>
                    <a:pt x="347136" y="323342"/>
                  </a:lnTo>
                  <a:lnTo>
                    <a:pt x="337120" y="337121"/>
                  </a:lnTo>
                  <a:lnTo>
                    <a:pt x="334694" y="339547"/>
                  </a:lnTo>
                  <a:lnTo>
                    <a:pt x="310371" y="351421"/>
                  </a:lnTo>
                  <a:lnTo>
                    <a:pt x="307007" y="352094"/>
                  </a:lnTo>
                  <a:lnTo>
                    <a:pt x="303610" y="352425"/>
                  </a:lnTo>
                  <a:lnTo>
                    <a:pt x="300181" y="352425"/>
                  </a:lnTo>
                  <a:lnTo>
                    <a:pt x="52243" y="352425"/>
                  </a:lnTo>
                  <a:lnTo>
                    <a:pt x="48816" y="352425"/>
                  </a:lnTo>
                  <a:lnTo>
                    <a:pt x="45417" y="352094"/>
                  </a:lnTo>
                  <a:lnTo>
                    <a:pt x="42053" y="351421"/>
                  </a:lnTo>
                  <a:lnTo>
                    <a:pt x="38685" y="350748"/>
                  </a:lnTo>
                  <a:lnTo>
                    <a:pt x="23216" y="343623"/>
                  </a:lnTo>
                  <a:lnTo>
                    <a:pt x="20364" y="341718"/>
                  </a:lnTo>
                  <a:lnTo>
                    <a:pt x="17725" y="339547"/>
                  </a:lnTo>
                  <a:lnTo>
                    <a:pt x="15304" y="337121"/>
                  </a:lnTo>
                  <a:lnTo>
                    <a:pt x="12879" y="334695"/>
                  </a:lnTo>
                  <a:lnTo>
                    <a:pt x="3978" y="320167"/>
                  </a:lnTo>
                  <a:lnTo>
                    <a:pt x="2664" y="317004"/>
                  </a:lnTo>
                  <a:lnTo>
                    <a:pt x="1671" y="313740"/>
                  </a:lnTo>
                  <a:lnTo>
                    <a:pt x="1002" y="310375"/>
                  </a:lnTo>
                  <a:lnTo>
                    <a:pt x="332" y="307009"/>
                  </a:lnTo>
                  <a:lnTo>
                    <a:pt x="0" y="303606"/>
                  </a:lnTo>
                  <a:lnTo>
                    <a:pt x="0" y="300177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3887" y="4711026"/>
              <a:ext cx="257175" cy="210185"/>
            </a:xfrm>
            <a:custGeom>
              <a:avLst/>
              <a:gdLst/>
              <a:ahLst/>
              <a:cxnLst/>
              <a:rect l="l" t="t" r="r" b="b"/>
              <a:pathLst>
                <a:path w="257175" h="210185">
                  <a:moveTo>
                    <a:pt x="75435" y="210096"/>
                  </a:moveTo>
                  <a:lnTo>
                    <a:pt x="173925" y="0"/>
                  </a:lnTo>
                </a:path>
                <a:path w="257175" h="210185">
                  <a:moveTo>
                    <a:pt x="65866" y="40246"/>
                  </a:moveTo>
                  <a:lnTo>
                    <a:pt x="0" y="106946"/>
                  </a:lnTo>
                </a:path>
                <a:path w="257175" h="210185">
                  <a:moveTo>
                    <a:pt x="65488" y="171881"/>
                  </a:moveTo>
                  <a:lnTo>
                    <a:pt x="0" y="106946"/>
                  </a:lnTo>
                </a:path>
                <a:path w="257175" h="210185">
                  <a:moveTo>
                    <a:pt x="191051" y="40881"/>
                  </a:moveTo>
                  <a:lnTo>
                    <a:pt x="257175" y="106527"/>
                  </a:lnTo>
                </a:path>
                <a:path w="257175" h="210185">
                  <a:moveTo>
                    <a:pt x="192017" y="171742"/>
                  </a:moveTo>
                  <a:lnTo>
                    <a:pt x="257175" y="106527"/>
                  </a:lnTo>
                </a:path>
              </a:pathLst>
            </a:custGeom>
            <a:ln w="11390">
              <a:solidFill>
                <a:srgbClr val="3B34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7311" y="1839150"/>
            <a:ext cx="5467985" cy="3435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Many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existing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mini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bank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systems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often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rely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on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basic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file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I/O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data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storage,</a:t>
            </a:r>
            <a:r>
              <a:rPr sz="1250" spc="-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leading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to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simplicity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but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also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certain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limitations.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250">
              <a:latin typeface="Verdana"/>
              <a:cs typeface="Verdana"/>
            </a:endParaRPr>
          </a:p>
          <a:p>
            <a:pPr marL="541655">
              <a:lnSpc>
                <a:spcPct val="100000"/>
              </a:lnSpc>
              <a:spcBef>
                <a:spcPts val="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Flat</a:t>
            </a:r>
            <a:r>
              <a:rPr sz="1650" b="1" spc="6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File</a:t>
            </a:r>
            <a:r>
              <a:rPr sz="1650" b="1" spc="6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Storage</a:t>
            </a:r>
            <a:endParaRPr sz="165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12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Data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saved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plain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text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files,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easy</a:t>
            </a:r>
            <a:r>
              <a:rPr sz="1250" spc="-9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to</a:t>
            </a:r>
            <a:r>
              <a:rPr sz="1250" spc="-8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implement.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250">
              <a:latin typeface="Verdana"/>
              <a:cs typeface="Verdana"/>
            </a:endParaRPr>
          </a:p>
          <a:p>
            <a:pPr marL="541655">
              <a:lnSpc>
                <a:spcPct val="100000"/>
              </a:lnSpc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Sequential</a:t>
            </a:r>
            <a:r>
              <a:rPr sz="1650" b="1" spc="31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Access</a:t>
            </a:r>
            <a:endParaRPr sz="165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0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Records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are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read</a:t>
            </a:r>
            <a:r>
              <a:rPr sz="1250" spc="-1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written</a:t>
            </a:r>
            <a:r>
              <a:rPr sz="1250" spc="-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sequentially.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250">
              <a:latin typeface="Verdana"/>
              <a:cs typeface="Verdana"/>
            </a:endParaRPr>
          </a:p>
          <a:p>
            <a:pPr marL="541655">
              <a:lnSpc>
                <a:spcPct val="100000"/>
              </a:lnSpc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Procedural</a:t>
            </a:r>
            <a:r>
              <a:rPr sz="1650" b="1" spc="29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15" dirty="0">
                <a:solidFill>
                  <a:srgbClr val="3B3434"/>
                </a:solidFill>
                <a:latin typeface="Tahoma"/>
                <a:cs typeface="Tahoma"/>
              </a:rPr>
              <a:t>C</a:t>
            </a:r>
            <a:endParaRPr sz="165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045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Utilizes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core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40" dirty="0">
                <a:solidFill>
                  <a:srgbClr val="3B3434"/>
                </a:solidFill>
                <a:latin typeface="Verdana"/>
                <a:cs typeface="Verdana"/>
              </a:rPr>
              <a:t>C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programming</a:t>
            </a:r>
            <a:r>
              <a:rPr sz="125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constructs.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819900"/>
          </a:xfrm>
          <a:custGeom>
            <a:avLst/>
            <a:gdLst/>
            <a:ahLst/>
            <a:cxnLst/>
            <a:rect l="l" t="t" r="r" b="b"/>
            <a:pathLst>
              <a:path w="11430000" h="6819900">
                <a:moveTo>
                  <a:pt x="11430000" y="0"/>
                </a:moveTo>
                <a:lnTo>
                  <a:pt x="0" y="0"/>
                </a:lnTo>
                <a:lnTo>
                  <a:pt x="0" y="6819900"/>
                </a:lnTo>
                <a:lnTo>
                  <a:pt x="11430000" y="6819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0383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7311" y="2463800"/>
            <a:ext cx="749490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Drawbacks</a:t>
            </a:r>
            <a:r>
              <a:rPr spc="120" dirty="0"/>
              <a:t> </a:t>
            </a:r>
            <a:r>
              <a:rPr dirty="0"/>
              <a:t>of</a:t>
            </a:r>
            <a:r>
              <a:rPr spc="125" dirty="0"/>
              <a:t> </a:t>
            </a:r>
            <a:r>
              <a:rPr dirty="0"/>
              <a:t>Current</a:t>
            </a:r>
            <a:r>
              <a:rPr spc="125" dirty="0"/>
              <a:t> </a:t>
            </a:r>
            <a:r>
              <a:rPr spc="65" dirty="0"/>
              <a:t>Approaches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7311" y="3272472"/>
            <a:ext cx="876236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While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straightforward,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existing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methods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face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several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challenges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that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hinder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scalability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user</a:t>
            </a:r>
            <a:r>
              <a:rPr sz="1250" spc="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experience.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52450" y="3705225"/>
            <a:ext cx="5076825" cy="1257300"/>
            <a:chOff x="552450" y="3705225"/>
            <a:chExt cx="5076825" cy="1257300"/>
          </a:xfrm>
        </p:grpSpPr>
        <p:sp>
          <p:nvSpPr>
            <p:cNvPr id="7" name="object 7"/>
            <p:cNvSpPr/>
            <p:nvPr/>
          </p:nvSpPr>
          <p:spPr>
            <a:xfrm>
              <a:off x="571500" y="3714750"/>
              <a:ext cx="5048250" cy="1238250"/>
            </a:xfrm>
            <a:custGeom>
              <a:avLst/>
              <a:gdLst/>
              <a:ahLst/>
              <a:cxnLst/>
              <a:rect l="l" t="t" r="r" b="b"/>
              <a:pathLst>
                <a:path w="5048250" h="1238250">
                  <a:moveTo>
                    <a:pt x="5007063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171575"/>
                  </a:lnTo>
                  <a:lnTo>
                    <a:pt x="0" y="1175956"/>
                  </a:lnTo>
                  <a:lnTo>
                    <a:pt x="15622" y="1212253"/>
                  </a:lnTo>
                  <a:lnTo>
                    <a:pt x="51663" y="1234846"/>
                  </a:lnTo>
                  <a:lnTo>
                    <a:pt x="71194" y="1238250"/>
                  </a:lnTo>
                  <a:lnTo>
                    <a:pt x="5007063" y="1238250"/>
                  </a:lnTo>
                  <a:lnTo>
                    <a:pt x="5042230" y="1214755"/>
                  </a:lnTo>
                  <a:lnTo>
                    <a:pt x="5048250" y="1197063"/>
                  </a:lnTo>
                  <a:lnTo>
                    <a:pt x="5048250" y="41186"/>
                  </a:lnTo>
                  <a:lnTo>
                    <a:pt x="5024755" y="6019"/>
                  </a:lnTo>
                  <a:lnTo>
                    <a:pt x="5013121" y="1206"/>
                  </a:lnTo>
                  <a:lnTo>
                    <a:pt x="5007063" y="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2338" y="3705237"/>
              <a:ext cx="5057140" cy="1257300"/>
            </a:xfrm>
            <a:custGeom>
              <a:avLst/>
              <a:gdLst/>
              <a:ahLst/>
              <a:cxnLst/>
              <a:rect l="l" t="t" r="r" b="b"/>
              <a:pathLst>
                <a:path w="5057140" h="1257300">
                  <a:moveTo>
                    <a:pt x="5056924" y="49441"/>
                  </a:moveTo>
                  <a:lnTo>
                    <a:pt x="5040782" y="17259"/>
                  </a:lnTo>
                  <a:lnTo>
                    <a:pt x="5040490" y="16967"/>
                  </a:lnTo>
                  <a:lnTo>
                    <a:pt x="5040223" y="16687"/>
                  </a:lnTo>
                  <a:lnTo>
                    <a:pt x="5034877" y="11353"/>
                  </a:lnTo>
                  <a:lnTo>
                    <a:pt x="5028717" y="7226"/>
                  </a:lnTo>
                  <a:lnTo>
                    <a:pt x="5014760" y="1447"/>
                  </a:lnTo>
                  <a:lnTo>
                    <a:pt x="5007483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99914" y="19050"/>
                  </a:lnTo>
                  <a:lnTo>
                    <a:pt x="5035105" y="42430"/>
                  </a:lnTo>
                  <a:lnTo>
                    <a:pt x="5037874" y="57010"/>
                  </a:lnTo>
                  <a:lnTo>
                    <a:pt x="5037874" y="1200289"/>
                  </a:lnTo>
                  <a:lnTo>
                    <a:pt x="5014493" y="1235468"/>
                  </a:lnTo>
                  <a:lnTo>
                    <a:pt x="4999914" y="1238250"/>
                  </a:lnTo>
                  <a:lnTo>
                    <a:pt x="75349" y="1238250"/>
                  </a:lnTo>
                  <a:lnTo>
                    <a:pt x="33007" y="1228623"/>
                  </a:lnTo>
                  <a:lnTo>
                    <a:pt x="1092" y="1195971"/>
                  </a:lnTo>
                  <a:lnTo>
                    <a:pt x="0" y="1191856"/>
                  </a:lnTo>
                  <a:lnTo>
                    <a:pt x="609" y="1195971"/>
                  </a:lnTo>
                  <a:lnTo>
                    <a:pt x="2413" y="1203172"/>
                  </a:lnTo>
                  <a:lnTo>
                    <a:pt x="4851" y="1209967"/>
                  </a:lnTo>
                  <a:lnTo>
                    <a:pt x="4953" y="1210259"/>
                  </a:lnTo>
                  <a:lnTo>
                    <a:pt x="33007" y="1244460"/>
                  </a:lnTo>
                  <a:lnTo>
                    <a:pt x="75349" y="1257300"/>
                  </a:lnTo>
                  <a:lnTo>
                    <a:pt x="5007483" y="1257300"/>
                  </a:lnTo>
                  <a:lnTo>
                    <a:pt x="5014747" y="1255852"/>
                  </a:lnTo>
                  <a:lnTo>
                    <a:pt x="5028717" y="1250073"/>
                  </a:lnTo>
                  <a:lnTo>
                    <a:pt x="5034877" y="1245946"/>
                  </a:lnTo>
                  <a:lnTo>
                    <a:pt x="5040223" y="1240599"/>
                  </a:lnTo>
                  <a:lnTo>
                    <a:pt x="5040706" y="1240116"/>
                  </a:lnTo>
                  <a:lnTo>
                    <a:pt x="5045570" y="1235252"/>
                  </a:lnTo>
                  <a:lnTo>
                    <a:pt x="5049685" y="1229093"/>
                  </a:lnTo>
                  <a:lnTo>
                    <a:pt x="5055476" y="1215123"/>
                  </a:lnTo>
                  <a:lnTo>
                    <a:pt x="5056924" y="1207858"/>
                  </a:lnTo>
                  <a:lnTo>
                    <a:pt x="5056924" y="49441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2450" y="3705225"/>
              <a:ext cx="76200" cy="1257300"/>
            </a:xfrm>
            <a:custGeom>
              <a:avLst/>
              <a:gdLst/>
              <a:ahLst/>
              <a:cxnLst/>
              <a:rect l="l" t="t" r="r" b="b"/>
              <a:pathLst>
                <a:path w="76200" h="1257300">
                  <a:moveTo>
                    <a:pt x="76200" y="0"/>
                  </a:moveTo>
                  <a:lnTo>
                    <a:pt x="53265" y="0"/>
                  </a:lnTo>
                  <a:lnTo>
                    <a:pt x="49555" y="368"/>
                  </a:lnTo>
                  <a:lnTo>
                    <a:pt x="14050" y="19342"/>
                  </a:lnTo>
                  <a:lnTo>
                    <a:pt x="0" y="53263"/>
                  </a:lnTo>
                  <a:lnTo>
                    <a:pt x="0" y="1200289"/>
                  </a:lnTo>
                  <a:lnTo>
                    <a:pt x="0" y="1204036"/>
                  </a:lnTo>
                  <a:lnTo>
                    <a:pt x="19342" y="1243241"/>
                  </a:lnTo>
                  <a:lnTo>
                    <a:pt x="53265" y="1257300"/>
                  </a:lnTo>
                  <a:lnTo>
                    <a:pt x="76200" y="12573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A2D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96329" y="3868737"/>
            <a:ext cx="4311650" cy="6153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Data</a:t>
            </a:r>
            <a:r>
              <a:rPr sz="1650" b="1" spc="4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Insecurity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Plain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text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files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are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vulnerable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to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unauthorized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access.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81675" y="3705225"/>
            <a:ext cx="5076825" cy="1257300"/>
            <a:chOff x="5781675" y="3705225"/>
            <a:chExt cx="5076825" cy="1257300"/>
          </a:xfrm>
        </p:grpSpPr>
        <p:sp>
          <p:nvSpPr>
            <p:cNvPr id="12" name="object 12"/>
            <p:cNvSpPr/>
            <p:nvPr/>
          </p:nvSpPr>
          <p:spPr>
            <a:xfrm>
              <a:off x="5800725" y="3714750"/>
              <a:ext cx="5048250" cy="1238250"/>
            </a:xfrm>
            <a:custGeom>
              <a:avLst/>
              <a:gdLst/>
              <a:ahLst/>
              <a:cxnLst/>
              <a:rect l="l" t="t" r="r" b="b"/>
              <a:pathLst>
                <a:path w="5048250" h="1238250">
                  <a:moveTo>
                    <a:pt x="5007063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171575"/>
                  </a:lnTo>
                  <a:lnTo>
                    <a:pt x="0" y="1175956"/>
                  </a:lnTo>
                  <a:lnTo>
                    <a:pt x="15621" y="1212253"/>
                  </a:lnTo>
                  <a:lnTo>
                    <a:pt x="51663" y="1234846"/>
                  </a:lnTo>
                  <a:lnTo>
                    <a:pt x="71196" y="1238250"/>
                  </a:lnTo>
                  <a:lnTo>
                    <a:pt x="5007063" y="1238250"/>
                  </a:lnTo>
                  <a:lnTo>
                    <a:pt x="5042217" y="1214755"/>
                  </a:lnTo>
                  <a:lnTo>
                    <a:pt x="5048250" y="1197063"/>
                  </a:lnTo>
                  <a:lnTo>
                    <a:pt x="5048250" y="41186"/>
                  </a:lnTo>
                  <a:lnTo>
                    <a:pt x="5024755" y="6019"/>
                  </a:lnTo>
                  <a:lnTo>
                    <a:pt x="5013121" y="1206"/>
                  </a:lnTo>
                  <a:lnTo>
                    <a:pt x="5007063" y="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01563" y="3705237"/>
              <a:ext cx="5057140" cy="1257300"/>
            </a:xfrm>
            <a:custGeom>
              <a:avLst/>
              <a:gdLst/>
              <a:ahLst/>
              <a:cxnLst/>
              <a:rect l="l" t="t" r="r" b="b"/>
              <a:pathLst>
                <a:path w="5057140" h="1257300">
                  <a:moveTo>
                    <a:pt x="5056924" y="49441"/>
                  </a:moveTo>
                  <a:lnTo>
                    <a:pt x="5040782" y="17259"/>
                  </a:lnTo>
                  <a:lnTo>
                    <a:pt x="5040223" y="16700"/>
                  </a:lnTo>
                  <a:lnTo>
                    <a:pt x="5034877" y="11353"/>
                  </a:lnTo>
                  <a:lnTo>
                    <a:pt x="5028717" y="7226"/>
                  </a:lnTo>
                  <a:lnTo>
                    <a:pt x="5014760" y="1447"/>
                  </a:lnTo>
                  <a:lnTo>
                    <a:pt x="5007470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99914" y="19050"/>
                  </a:lnTo>
                  <a:lnTo>
                    <a:pt x="5035105" y="42430"/>
                  </a:lnTo>
                  <a:lnTo>
                    <a:pt x="5037874" y="57010"/>
                  </a:lnTo>
                  <a:lnTo>
                    <a:pt x="5037874" y="1200289"/>
                  </a:lnTo>
                  <a:lnTo>
                    <a:pt x="5037188" y="1207858"/>
                  </a:lnTo>
                  <a:lnTo>
                    <a:pt x="5035105" y="1214856"/>
                  </a:lnTo>
                  <a:lnTo>
                    <a:pt x="5031625" y="1221282"/>
                  </a:lnTo>
                  <a:lnTo>
                    <a:pt x="5027193" y="1226616"/>
                  </a:lnTo>
                  <a:lnTo>
                    <a:pt x="5026761" y="1227137"/>
                  </a:lnTo>
                  <a:lnTo>
                    <a:pt x="5020919" y="1231988"/>
                  </a:lnTo>
                  <a:lnTo>
                    <a:pt x="5014493" y="1235468"/>
                  </a:lnTo>
                  <a:lnTo>
                    <a:pt x="5007495" y="1237551"/>
                  </a:lnTo>
                  <a:lnTo>
                    <a:pt x="4999914" y="1238250"/>
                  </a:lnTo>
                  <a:lnTo>
                    <a:pt x="75349" y="1238250"/>
                  </a:lnTo>
                  <a:lnTo>
                    <a:pt x="33007" y="1228623"/>
                  </a:lnTo>
                  <a:lnTo>
                    <a:pt x="1079" y="1195971"/>
                  </a:lnTo>
                  <a:lnTo>
                    <a:pt x="0" y="1191869"/>
                  </a:lnTo>
                  <a:lnTo>
                    <a:pt x="609" y="1195971"/>
                  </a:lnTo>
                  <a:lnTo>
                    <a:pt x="2413" y="1203172"/>
                  </a:lnTo>
                  <a:lnTo>
                    <a:pt x="4851" y="1209967"/>
                  </a:lnTo>
                  <a:lnTo>
                    <a:pt x="4953" y="1210259"/>
                  </a:lnTo>
                  <a:lnTo>
                    <a:pt x="33007" y="1244460"/>
                  </a:lnTo>
                  <a:lnTo>
                    <a:pt x="75349" y="1257300"/>
                  </a:lnTo>
                  <a:lnTo>
                    <a:pt x="5007470" y="1257300"/>
                  </a:lnTo>
                  <a:lnTo>
                    <a:pt x="5014747" y="1255852"/>
                  </a:lnTo>
                  <a:lnTo>
                    <a:pt x="5028717" y="1250073"/>
                  </a:lnTo>
                  <a:lnTo>
                    <a:pt x="5034877" y="1245946"/>
                  </a:lnTo>
                  <a:lnTo>
                    <a:pt x="5040223" y="1240599"/>
                  </a:lnTo>
                  <a:lnTo>
                    <a:pt x="5040706" y="1240116"/>
                  </a:lnTo>
                  <a:lnTo>
                    <a:pt x="5045570" y="1235252"/>
                  </a:lnTo>
                  <a:lnTo>
                    <a:pt x="5049685" y="1229093"/>
                  </a:lnTo>
                  <a:lnTo>
                    <a:pt x="5055476" y="1215123"/>
                  </a:lnTo>
                  <a:lnTo>
                    <a:pt x="5056924" y="1207858"/>
                  </a:lnTo>
                  <a:lnTo>
                    <a:pt x="5056924" y="49441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81675" y="3705225"/>
              <a:ext cx="76200" cy="1257300"/>
            </a:xfrm>
            <a:custGeom>
              <a:avLst/>
              <a:gdLst/>
              <a:ahLst/>
              <a:cxnLst/>
              <a:rect l="l" t="t" r="r" b="b"/>
              <a:pathLst>
                <a:path w="76200" h="1257300">
                  <a:moveTo>
                    <a:pt x="76200" y="0"/>
                  </a:moveTo>
                  <a:lnTo>
                    <a:pt x="53263" y="0"/>
                  </a:lnTo>
                  <a:lnTo>
                    <a:pt x="49555" y="368"/>
                  </a:lnTo>
                  <a:lnTo>
                    <a:pt x="14046" y="19342"/>
                  </a:lnTo>
                  <a:lnTo>
                    <a:pt x="0" y="53263"/>
                  </a:lnTo>
                  <a:lnTo>
                    <a:pt x="0" y="1200289"/>
                  </a:lnTo>
                  <a:lnTo>
                    <a:pt x="0" y="1204036"/>
                  </a:lnTo>
                  <a:lnTo>
                    <a:pt x="19342" y="1243241"/>
                  </a:lnTo>
                  <a:lnTo>
                    <a:pt x="53263" y="1257300"/>
                  </a:lnTo>
                  <a:lnTo>
                    <a:pt x="76200" y="12573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A2D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022721" y="3868737"/>
            <a:ext cx="398081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Limited</a:t>
            </a:r>
            <a:r>
              <a:rPr sz="1650" b="1" spc="26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Scalability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Performance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degradation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a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large</a:t>
            </a:r>
            <a:r>
              <a:rPr sz="1250" spc="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number</a:t>
            </a:r>
            <a:r>
              <a:rPr sz="1250" spc="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of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accounts.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2450" y="5124450"/>
            <a:ext cx="5076825" cy="1247775"/>
            <a:chOff x="552450" y="5124450"/>
            <a:chExt cx="5076825" cy="1247775"/>
          </a:xfrm>
        </p:grpSpPr>
        <p:sp>
          <p:nvSpPr>
            <p:cNvPr id="17" name="object 17"/>
            <p:cNvSpPr/>
            <p:nvPr/>
          </p:nvSpPr>
          <p:spPr>
            <a:xfrm>
              <a:off x="571500" y="5133975"/>
              <a:ext cx="5048250" cy="1228725"/>
            </a:xfrm>
            <a:custGeom>
              <a:avLst/>
              <a:gdLst/>
              <a:ahLst/>
              <a:cxnLst/>
              <a:rect l="l" t="t" r="r" b="b"/>
              <a:pathLst>
                <a:path w="5048250" h="1228725">
                  <a:moveTo>
                    <a:pt x="5007063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162051"/>
                  </a:lnTo>
                  <a:lnTo>
                    <a:pt x="0" y="1166426"/>
                  </a:lnTo>
                  <a:lnTo>
                    <a:pt x="15622" y="1202730"/>
                  </a:lnTo>
                  <a:lnTo>
                    <a:pt x="51663" y="1225322"/>
                  </a:lnTo>
                  <a:lnTo>
                    <a:pt x="71194" y="1228726"/>
                  </a:lnTo>
                  <a:lnTo>
                    <a:pt x="5007063" y="1228721"/>
                  </a:lnTo>
                  <a:lnTo>
                    <a:pt x="5042230" y="1205231"/>
                  </a:lnTo>
                  <a:lnTo>
                    <a:pt x="5048250" y="1187540"/>
                  </a:lnTo>
                  <a:lnTo>
                    <a:pt x="5048250" y="41186"/>
                  </a:lnTo>
                  <a:lnTo>
                    <a:pt x="5024755" y="6019"/>
                  </a:lnTo>
                  <a:lnTo>
                    <a:pt x="5013121" y="1206"/>
                  </a:lnTo>
                  <a:lnTo>
                    <a:pt x="5007063" y="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2338" y="5124462"/>
              <a:ext cx="5057140" cy="1247775"/>
            </a:xfrm>
            <a:custGeom>
              <a:avLst/>
              <a:gdLst/>
              <a:ahLst/>
              <a:cxnLst/>
              <a:rect l="l" t="t" r="r" b="b"/>
              <a:pathLst>
                <a:path w="5057140" h="1247775">
                  <a:moveTo>
                    <a:pt x="5056924" y="49441"/>
                  </a:moveTo>
                  <a:lnTo>
                    <a:pt x="5040782" y="17259"/>
                  </a:lnTo>
                  <a:lnTo>
                    <a:pt x="5040490" y="16967"/>
                  </a:lnTo>
                  <a:lnTo>
                    <a:pt x="5040223" y="16687"/>
                  </a:lnTo>
                  <a:lnTo>
                    <a:pt x="5034877" y="11353"/>
                  </a:lnTo>
                  <a:lnTo>
                    <a:pt x="5028717" y="7226"/>
                  </a:lnTo>
                  <a:lnTo>
                    <a:pt x="5014760" y="1447"/>
                  </a:lnTo>
                  <a:lnTo>
                    <a:pt x="5007483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999914" y="19050"/>
                  </a:lnTo>
                  <a:lnTo>
                    <a:pt x="5035105" y="42430"/>
                  </a:lnTo>
                  <a:lnTo>
                    <a:pt x="5037874" y="57010"/>
                  </a:lnTo>
                  <a:lnTo>
                    <a:pt x="5037874" y="1190764"/>
                  </a:lnTo>
                  <a:lnTo>
                    <a:pt x="5037188" y="1198333"/>
                  </a:lnTo>
                  <a:lnTo>
                    <a:pt x="5035105" y="1205331"/>
                  </a:lnTo>
                  <a:lnTo>
                    <a:pt x="5031625" y="1211757"/>
                  </a:lnTo>
                  <a:lnTo>
                    <a:pt x="5027193" y="1217079"/>
                  </a:lnTo>
                  <a:lnTo>
                    <a:pt x="5026761" y="1217599"/>
                  </a:lnTo>
                  <a:lnTo>
                    <a:pt x="5020919" y="1222463"/>
                  </a:lnTo>
                  <a:lnTo>
                    <a:pt x="5014493" y="1225943"/>
                  </a:lnTo>
                  <a:lnTo>
                    <a:pt x="5007495" y="1228026"/>
                  </a:lnTo>
                  <a:lnTo>
                    <a:pt x="4999914" y="1228725"/>
                  </a:lnTo>
                  <a:lnTo>
                    <a:pt x="75349" y="1228725"/>
                  </a:lnTo>
                  <a:lnTo>
                    <a:pt x="33007" y="1219098"/>
                  </a:lnTo>
                  <a:lnTo>
                    <a:pt x="1092" y="1186434"/>
                  </a:lnTo>
                  <a:lnTo>
                    <a:pt x="0" y="1182319"/>
                  </a:lnTo>
                  <a:lnTo>
                    <a:pt x="609" y="1186434"/>
                  </a:lnTo>
                  <a:lnTo>
                    <a:pt x="21475" y="1225448"/>
                  </a:lnTo>
                  <a:lnTo>
                    <a:pt x="60515" y="1246327"/>
                  </a:lnTo>
                  <a:lnTo>
                    <a:pt x="75349" y="1247775"/>
                  </a:lnTo>
                  <a:lnTo>
                    <a:pt x="5007457" y="1247775"/>
                  </a:lnTo>
                  <a:lnTo>
                    <a:pt x="5014747" y="1246327"/>
                  </a:lnTo>
                  <a:lnTo>
                    <a:pt x="5028717" y="1240536"/>
                  </a:lnTo>
                  <a:lnTo>
                    <a:pt x="5034877" y="1236408"/>
                  </a:lnTo>
                  <a:lnTo>
                    <a:pt x="5040211" y="1231074"/>
                  </a:lnTo>
                  <a:lnTo>
                    <a:pt x="5040706" y="1230591"/>
                  </a:lnTo>
                  <a:lnTo>
                    <a:pt x="5045570" y="1225727"/>
                  </a:lnTo>
                  <a:lnTo>
                    <a:pt x="5049685" y="1219568"/>
                  </a:lnTo>
                  <a:lnTo>
                    <a:pt x="5055476" y="1205598"/>
                  </a:lnTo>
                  <a:lnTo>
                    <a:pt x="5056924" y="1198333"/>
                  </a:lnTo>
                  <a:lnTo>
                    <a:pt x="5056924" y="49441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2450" y="5124450"/>
              <a:ext cx="76200" cy="1247775"/>
            </a:xfrm>
            <a:custGeom>
              <a:avLst/>
              <a:gdLst/>
              <a:ahLst/>
              <a:cxnLst/>
              <a:rect l="l" t="t" r="r" b="b"/>
              <a:pathLst>
                <a:path w="76200" h="1247775">
                  <a:moveTo>
                    <a:pt x="76200" y="0"/>
                  </a:moveTo>
                  <a:lnTo>
                    <a:pt x="53265" y="0"/>
                  </a:lnTo>
                  <a:lnTo>
                    <a:pt x="49555" y="368"/>
                  </a:lnTo>
                  <a:lnTo>
                    <a:pt x="14050" y="19342"/>
                  </a:lnTo>
                  <a:lnTo>
                    <a:pt x="0" y="53263"/>
                  </a:lnTo>
                  <a:lnTo>
                    <a:pt x="0" y="1190764"/>
                  </a:lnTo>
                  <a:lnTo>
                    <a:pt x="0" y="1194509"/>
                  </a:lnTo>
                  <a:lnTo>
                    <a:pt x="19342" y="1233721"/>
                  </a:lnTo>
                  <a:lnTo>
                    <a:pt x="76200" y="1247776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A2D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96329" y="5287962"/>
            <a:ext cx="4074795" cy="605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No</a:t>
            </a:r>
            <a:r>
              <a:rPr sz="1650" b="1" spc="20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Concurrent</a:t>
            </a:r>
            <a:r>
              <a:rPr sz="1650" b="1" spc="19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Access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Difficult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to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manage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multiple</a:t>
            </a:r>
            <a:r>
              <a:rPr sz="125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users</a:t>
            </a:r>
            <a:r>
              <a:rPr sz="1250" spc="-6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simultaneously.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81675" y="5124450"/>
            <a:ext cx="5076825" cy="1247775"/>
            <a:chOff x="5781675" y="5124450"/>
            <a:chExt cx="5076825" cy="1247775"/>
          </a:xfrm>
        </p:grpSpPr>
        <p:sp>
          <p:nvSpPr>
            <p:cNvPr id="22" name="object 22"/>
            <p:cNvSpPr/>
            <p:nvPr/>
          </p:nvSpPr>
          <p:spPr>
            <a:xfrm>
              <a:off x="5800725" y="5133975"/>
              <a:ext cx="5048250" cy="1228725"/>
            </a:xfrm>
            <a:custGeom>
              <a:avLst/>
              <a:gdLst/>
              <a:ahLst/>
              <a:cxnLst/>
              <a:rect l="l" t="t" r="r" b="b"/>
              <a:pathLst>
                <a:path w="5048250" h="1228725">
                  <a:moveTo>
                    <a:pt x="5007063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162051"/>
                  </a:lnTo>
                  <a:lnTo>
                    <a:pt x="0" y="1166426"/>
                  </a:lnTo>
                  <a:lnTo>
                    <a:pt x="15621" y="1202730"/>
                  </a:lnTo>
                  <a:lnTo>
                    <a:pt x="51663" y="1225322"/>
                  </a:lnTo>
                  <a:lnTo>
                    <a:pt x="71196" y="1228726"/>
                  </a:lnTo>
                  <a:lnTo>
                    <a:pt x="5007063" y="1228721"/>
                  </a:lnTo>
                  <a:lnTo>
                    <a:pt x="5042217" y="1205231"/>
                  </a:lnTo>
                  <a:lnTo>
                    <a:pt x="5048250" y="1187540"/>
                  </a:lnTo>
                  <a:lnTo>
                    <a:pt x="5048250" y="41186"/>
                  </a:lnTo>
                  <a:lnTo>
                    <a:pt x="5024755" y="6019"/>
                  </a:lnTo>
                  <a:lnTo>
                    <a:pt x="5013121" y="1206"/>
                  </a:lnTo>
                  <a:lnTo>
                    <a:pt x="5007063" y="0"/>
                  </a:lnTo>
                  <a:close/>
                </a:path>
              </a:pathLst>
            </a:custGeom>
            <a:solidFill>
              <a:srgbClr val="FF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01563" y="5124462"/>
              <a:ext cx="5057140" cy="1247775"/>
            </a:xfrm>
            <a:custGeom>
              <a:avLst/>
              <a:gdLst/>
              <a:ahLst/>
              <a:cxnLst/>
              <a:rect l="l" t="t" r="r" b="b"/>
              <a:pathLst>
                <a:path w="5057140" h="1247775">
                  <a:moveTo>
                    <a:pt x="5056924" y="49441"/>
                  </a:moveTo>
                  <a:lnTo>
                    <a:pt x="5040782" y="17259"/>
                  </a:lnTo>
                  <a:lnTo>
                    <a:pt x="5040223" y="16700"/>
                  </a:lnTo>
                  <a:lnTo>
                    <a:pt x="5034877" y="11353"/>
                  </a:lnTo>
                  <a:lnTo>
                    <a:pt x="5028717" y="7226"/>
                  </a:lnTo>
                  <a:lnTo>
                    <a:pt x="5014760" y="1447"/>
                  </a:lnTo>
                  <a:lnTo>
                    <a:pt x="5007470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4999914" y="19050"/>
                  </a:lnTo>
                  <a:lnTo>
                    <a:pt x="5035105" y="42430"/>
                  </a:lnTo>
                  <a:lnTo>
                    <a:pt x="5037874" y="57010"/>
                  </a:lnTo>
                  <a:lnTo>
                    <a:pt x="5037874" y="1190764"/>
                  </a:lnTo>
                  <a:lnTo>
                    <a:pt x="5037188" y="1198333"/>
                  </a:lnTo>
                  <a:lnTo>
                    <a:pt x="5035105" y="1205331"/>
                  </a:lnTo>
                  <a:lnTo>
                    <a:pt x="5031625" y="1211757"/>
                  </a:lnTo>
                  <a:lnTo>
                    <a:pt x="5027193" y="1217079"/>
                  </a:lnTo>
                  <a:lnTo>
                    <a:pt x="5026761" y="1217599"/>
                  </a:lnTo>
                  <a:lnTo>
                    <a:pt x="5020919" y="1222463"/>
                  </a:lnTo>
                  <a:lnTo>
                    <a:pt x="5014493" y="1225943"/>
                  </a:lnTo>
                  <a:lnTo>
                    <a:pt x="5007495" y="1228026"/>
                  </a:lnTo>
                  <a:lnTo>
                    <a:pt x="4999914" y="1228725"/>
                  </a:lnTo>
                  <a:lnTo>
                    <a:pt x="75349" y="1228725"/>
                  </a:lnTo>
                  <a:lnTo>
                    <a:pt x="33007" y="1219098"/>
                  </a:lnTo>
                  <a:lnTo>
                    <a:pt x="1079" y="1186434"/>
                  </a:lnTo>
                  <a:lnTo>
                    <a:pt x="0" y="1182331"/>
                  </a:lnTo>
                  <a:lnTo>
                    <a:pt x="609" y="1186434"/>
                  </a:lnTo>
                  <a:lnTo>
                    <a:pt x="21463" y="1225448"/>
                  </a:lnTo>
                  <a:lnTo>
                    <a:pt x="60515" y="1246327"/>
                  </a:lnTo>
                  <a:lnTo>
                    <a:pt x="75349" y="1247775"/>
                  </a:lnTo>
                  <a:lnTo>
                    <a:pt x="5007445" y="1247775"/>
                  </a:lnTo>
                  <a:lnTo>
                    <a:pt x="5014747" y="1246327"/>
                  </a:lnTo>
                  <a:lnTo>
                    <a:pt x="5028717" y="1240536"/>
                  </a:lnTo>
                  <a:lnTo>
                    <a:pt x="5034877" y="1236408"/>
                  </a:lnTo>
                  <a:lnTo>
                    <a:pt x="5040223" y="1231061"/>
                  </a:lnTo>
                  <a:lnTo>
                    <a:pt x="5040706" y="1230591"/>
                  </a:lnTo>
                  <a:lnTo>
                    <a:pt x="5045570" y="1225727"/>
                  </a:lnTo>
                  <a:lnTo>
                    <a:pt x="5049685" y="1219568"/>
                  </a:lnTo>
                  <a:lnTo>
                    <a:pt x="5055476" y="1205598"/>
                  </a:lnTo>
                  <a:lnTo>
                    <a:pt x="5056924" y="1198333"/>
                  </a:lnTo>
                  <a:lnTo>
                    <a:pt x="5056924" y="49441"/>
                  </a:lnTo>
                  <a:close/>
                </a:path>
              </a:pathLst>
            </a:custGeom>
            <a:solidFill>
              <a:srgbClr val="BAC2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81675" y="5124450"/>
              <a:ext cx="76200" cy="1247775"/>
            </a:xfrm>
            <a:custGeom>
              <a:avLst/>
              <a:gdLst/>
              <a:ahLst/>
              <a:cxnLst/>
              <a:rect l="l" t="t" r="r" b="b"/>
              <a:pathLst>
                <a:path w="76200" h="1247775">
                  <a:moveTo>
                    <a:pt x="76200" y="0"/>
                  </a:moveTo>
                  <a:lnTo>
                    <a:pt x="53263" y="0"/>
                  </a:lnTo>
                  <a:lnTo>
                    <a:pt x="49555" y="368"/>
                  </a:lnTo>
                  <a:lnTo>
                    <a:pt x="14046" y="19342"/>
                  </a:lnTo>
                  <a:lnTo>
                    <a:pt x="0" y="53263"/>
                  </a:lnTo>
                  <a:lnTo>
                    <a:pt x="0" y="1190764"/>
                  </a:lnTo>
                  <a:lnTo>
                    <a:pt x="0" y="1194509"/>
                  </a:lnTo>
                  <a:lnTo>
                    <a:pt x="19342" y="1233721"/>
                  </a:lnTo>
                  <a:lnTo>
                    <a:pt x="76200" y="1247776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A2D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022721" y="5287962"/>
            <a:ext cx="4551045" cy="862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Lack</a:t>
            </a:r>
            <a:r>
              <a:rPr sz="1650" b="1" spc="5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of</a:t>
            </a:r>
            <a:r>
              <a:rPr sz="1650" b="1" spc="5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Data</a:t>
            </a:r>
            <a:r>
              <a:rPr sz="1650" b="1" spc="5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Integrity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2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Risk</a:t>
            </a:r>
            <a:r>
              <a:rPr sz="1250" spc="4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data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corruption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or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inconsistency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without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proper validation.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311" y="615950"/>
            <a:ext cx="964247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/>
              <a:t>Proposed</a:t>
            </a:r>
            <a:r>
              <a:rPr spc="25" dirty="0"/>
              <a:t> </a:t>
            </a:r>
            <a:r>
              <a:rPr dirty="0"/>
              <a:t>Methodology:</a:t>
            </a:r>
            <a:r>
              <a:rPr spc="25" dirty="0"/>
              <a:t> </a:t>
            </a:r>
            <a:r>
              <a:rPr spc="90" dirty="0"/>
              <a:t>Enhanced</a:t>
            </a:r>
            <a:r>
              <a:rPr spc="25" dirty="0"/>
              <a:t> </a:t>
            </a:r>
            <a:r>
              <a:rPr spc="85" dirty="0"/>
              <a:t>C</a:t>
            </a:r>
            <a:r>
              <a:rPr spc="2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7311" y="1429575"/>
            <a:ext cx="9619615" cy="558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0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Our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enhanced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approach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focuses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5" dirty="0">
                <a:solidFill>
                  <a:srgbClr val="3B3434"/>
                </a:solidFill>
                <a:latin typeface="Verdana"/>
                <a:cs typeface="Verdana"/>
              </a:rPr>
              <a:t>on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improving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data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management,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security,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overall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system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robustness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within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90" dirty="0">
                <a:solidFill>
                  <a:srgbClr val="3B3434"/>
                </a:solidFill>
                <a:latin typeface="Verdana"/>
                <a:cs typeface="Verdana"/>
              </a:rPr>
              <a:t>C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environment.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0002" y="2195502"/>
            <a:ext cx="3611036" cy="36110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3777" y="2582862"/>
            <a:ext cx="2828925" cy="862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Structured</a:t>
            </a:r>
            <a:r>
              <a:rPr sz="1650" b="1" spc="18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Data</a:t>
            </a:r>
            <a:r>
              <a:rPr sz="1650" b="1" spc="18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45" dirty="0">
                <a:solidFill>
                  <a:srgbClr val="3B3434"/>
                </a:solidFill>
                <a:latin typeface="Tahoma"/>
                <a:cs typeface="Tahoma"/>
              </a:rPr>
              <a:t>Handling</a:t>
            </a:r>
            <a:endParaRPr sz="1650">
              <a:latin typeface="Tahoma"/>
              <a:cs typeface="Tahoma"/>
            </a:endParaRPr>
          </a:p>
          <a:p>
            <a:pPr marL="260350" marR="5080" indent="-55244">
              <a:lnSpc>
                <a:spcPct val="135000"/>
              </a:lnSpc>
              <a:spcBef>
                <a:spcPts val="520"/>
              </a:spcBef>
            </a:pP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Using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structs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linked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lists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 for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efficient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memory</a:t>
            </a:r>
            <a:r>
              <a:rPr sz="1250" spc="-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management.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7198" y="2582862"/>
            <a:ext cx="2969260" cy="862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Basic</a:t>
            </a:r>
            <a:r>
              <a:rPr sz="1650" b="1" spc="10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40" dirty="0">
                <a:solidFill>
                  <a:srgbClr val="3B3434"/>
                </a:solidFill>
                <a:latin typeface="Tahoma"/>
                <a:cs typeface="Tahoma"/>
              </a:rPr>
              <a:t>Encryption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20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Implementing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simple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encryption</a:t>
            </a:r>
            <a:r>
              <a:rPr sz="1250" spc="3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for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sensitive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B3434"/>
                </a:solidFill>
                <a:latin typeface="Verdana"/>
                <a:cs typeface="Verdana"/>
              </a:rPr>
              <a:t>account</a:t>
            </a:r>
            <a:r>
              <a:rPr sz="125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data.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47198" y="4506912"/>
            <a:ext cx="2985135" cy="862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Robust</a:t>
            </a:r>
            <a:r>
              <a:rPr sz="1650" b="1" spc="14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Error</a:t>
            </a:r>
            <a:r>
              <a:rPr sz="1650" b="1" spc="15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45" dirty="0">
                <a:solidFill>
                  <a:srgbClr val="3B3434"/>
                </a:solidFill>
                <a:latin typeface="Tahoma"/>
                <a:cs typeface="Tahoma"/>
              </a:rPr>
              <a:t>Handling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20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Comprehensive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input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validation</a:t>
            </a:r>
            <a:r>
              <a:rPr sz="1250" spc="4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and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error</a:t>
            </a:r>
            <a:r>
              <a:rPr sz="1250" spc="-114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messages.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4167" y="4506912"/>
            <a:ext cx="3018790" cy="862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37565">
              <a:lnSpc>
                <a:spcPct val="100000"/>
              </a:lnSpc>
              <a:spcBef>
                <a:spcPts val="135"/>
              </a:spcBef>
            </a:pPr>
            <a:r>
              <a:rPr sz="1650" b="1" spc="65" dirty="0">
                <a:solidFill>
                  <a:srgbClr val="3B3434"/>
                </a:solidFill>
                <a:latin typeface="Tahoma"/>
                <a:cs typeface="Tahoma"/>
              </a:rPr>
              <a:t>Random</a:t>
            </a:r>
            <a:r>
              <a:rPr sz="1650" b="1" spc="2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3B3434"/>
                </a:solidFill>
                <a:latin typeface="Tahoma"/>
                <a:cs typeface="Tahoma"/>
              </a:rPr>
              <a:t>File</a:t>
            </a:r>
            <a:r>
              <a:rPr sz="1650" b="1" spc="1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B3434"/>
                </a:solidFill>
                <a:latin typeface="Tahoma"/>
                <a:cs typeface="Tahoma"/>
              </a:rPr>
              <a:t>Access</a:t>
            </a:r>
            <a:endParaRPr sz="165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104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Optimizing</a:t>
            </a:r>
            <a:r>
              <a:rPr sz="1250" spc="1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read/write</a:t>
            </a:r>
            <a:r>
              <a:rPr sz="1250" spc="1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operations</a:t>
            </a:r>
            <a:r>
              <a:rPr sz="1250" spc="12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for</a:t>
            </a:r>
            <a:endParaRPr sz="125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525"/>
              </a:spcBef>
            </a:pP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faster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data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retrieval.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629400"/>
          </a:xfrm>
          <a:custGeom>
            <a:avLst/>
            <a:gdLst/>
            <a:ahLst/>
            <a:cxnLst/>
            <a:rect l="l" t="t" r="r" b="b"/>
            <a:pathLst>
              <a:path w="11430000" h="6629400">
                <a:moveTo>
                  <a:pt x="11430000" y="0"/>
                </a:moveTo>
                <a:lnTo>
                  <a:pt x="0" y="0"/>
                </a:lnTo>
                <a:lnTo>
                  <a:pt x="0" y="6629400"/>
                </a:lnTo>
                <a:lnTo>
                  <a:pt x="11430000" y="66294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66293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42700" y="434975"/>
            <a:ext cx="3984625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3335" marR="5080" indent="-1270">
              <a:lnSpc>
                <a:spcPts val="4200"/>
              </a:lnSpc>
              <a:spcBef>
                <a:spcPts val="50"/>
              </a:spcBef>
            </a:pPr>
            <a:r>
              <a:rPr dirty="0"/>
              <a:t>Advantages</a:t>
            </a:r>
            <a:r>
              <a:rPr spc="114" dirty="0"/>
              <a:t> </a:t>
            </a:r>
            <a:r>
              <a:rPr dirty="0"/>
              <a:t>of</a:t>
            </a:r>
            <a:r>
              <a:rPr spc="130" dirty="0"/>
              <a:t> </a:t>
            </a:r>
            <a:r>
              <a:rPr spc="30" dirty="0"/>
              <a:t>the </a:t>
            </a:r>
            <a:r>
              <a:rPr spc="55" dirty="0"/>
              <a:t>Proposed</a:t>
            </a:r>
            <a:r>
              <a:rPr spc="-45" dirty="0"/>
              <a:t> </a:t>
            </a:r>
            <a:r>
              <a:rPr spc="-10" dirty="0"/>
              <a:t>System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857750" y="2476500"/>
            <a:ext cx="361950" cy="361950"/>
            <a:chOff x="4857750" y="2476500"/>
            <a:chExt cx="361950" cy="361950"/>
          </a:xfrm>
        </p:grpSpPr>
        <p:sp>
          <p:nvSpPr>
            <p:cNvPr id="6" name="object 6"/>
            <p:cNvSpPr/>
            <p:nvPr/>
          </p:nvSpPr>
          <p:spPr>
            <a:xfrm>
              <a:off x="4862512" y="2481262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036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18"/>
                  </a:lnTo>
                  <a:lnTo>
                    <a:pt x="0" y="300177"/>
                  </a:lnTo>
                  <a:lnTo>
                    <a:pt x="0" y="303606"/>
                  </a:lnTo>
                  <a:lnTo>
                    <a:pt x="17729" y="339547"/>
                  </a:lnTo>
                  <a:lnTo>
                    <a:pt x="48818" y="352425"/>
                  </a:lnTo>
                  <a:lnTo>
                    <a:pt x="303606" y="352425"/>
                  </a:lnTo>
                  <a:lnTo>
                    <a:pt x="339547" y="334695"/>
                  </a:lnTo>
                  <a:lnTo>
                    <a:pt x="352425" y="303606"/>
                  </a:lnTo>
                  <a:lnTo>
                    <a:pt x="352425" y="48818"/>
                  </a:lnTo>
                  <a:lnTo>
                    <a:pt x="334695" y="12877"/>
                  </a:lnTo>
                  <a:lnTo>
                    <a:pt x="307009" y="330"/>
                  </a:lnTo>
                  <a:lnTo>
                    <a:pt x="3036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62512" y="2481262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0" y="300177"/>
                  </a:moveTo>
                  <a:lnTo>
                    <a:pt x="0" y="52247"/>
                  </a:lnTo>
                  <a:lnTo>
                    <a:pt x="0" y="48818"/>
                  </a:lnTo>
                  <a:lnTo>
                    <a:pt x="330" y="45415"/>
                  </a:lnTo>
                  <a:lnTo>
                    <a:pt x="15303" y="15303"/>
                  </a:lnTo>
                  <a:lnTo>
                    <a:pt x="17729" y="12877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300177" y="0"/>
                  </a:lnTo>
                  <a:lnTo>
                    <a:pt x="303606" y="0"/>
                  </a:lnTo>
                  <a:lnTo>
                    <a:pt x="307009" y="330"/>
                  </a:lnTo>
                  <a:lnTo>
                    <a:pt x="329196" y="8801"/>
                  </a:lnTo>
                  <a:lnTo>
                    <a:pt x="332054" y="10706"/>
                  </a:lnTo>
                  <a:lnTo>
                    <a:pt x="334695" y="12877"/>
                  </a:lnTo>
                  <a:lnTo>
                    <a:pt x="337121" y="15303"/>
                  </a:lnTo>
                  <a:lnTo>
                    <a:pt x="339547" y="17729"/>
                  </a:lnTo>
                  <a:lnTo>
                    <a:pt x="352425" y="48818"/>
                  </a:lnTo>
                  <a:lnTo>
                    <a:pt x="352425" y="52247"/>
                  </a:lnTo>
                  <a:lnTo>
                    <a:pt x="352425" y="300177"/>
                  </a:lnTo>
                  <a:lnTo>
                    <a:pt x="352425" y="303606"/>
                  </a:lnTo>
                  <a:lnTo>
                    <a:pt x="352094" y="307009"/>
                  </a:lnTo>
                  <a:lnTo>
                    <a:pt x="337121" y="337121"/>
                  </a:lnTo>
                  <a:lnTo>
                    <a:pt x="334695" y="339547"/>
                  </a:lnTo>
                  <a:lnTo>
                    <a:pt x="332054" y="341718"/>
                  </a:lnTo>
                  <a:lnTo>
                    <a:pt x="329196" y="343623"/>
                  </a:lnTo>
                  <a:lnTo>
                    <a:pt x="326351" y="345528"/>
                  </a:lnTo>
                  <a:lnTo>
                    <a:pt x="303606" y="352425"/>
                  </a:lnTo>
                  <a:lnTo>
                    <a:pt x="300177" y="352425"/>
                  </a:lnTo>
                  <a:lnTo>
                    <a:pt x="52247" y="352425"/>
                  </a:lnTo>
                  <a:lnTo>
                    <a:pt x="48818" y="352425"/>
                  </a:lnTo>
                  <a:lnTo>
                    <a:pt x="45415" y="352082"/>
                  </a:lnTo>
                  <a:lnTo>
                    <a:pt x="15303" y="337121"/>
                  </a:lnTo>
                  <a:lnTo>
                    <a:pt x="12877" y="334695"/>
                  </a:lnTo>
                  <a:lnTo>
                    <a:pt x="0" y="303606"/>
                  </a:lnTo>
                  <a:lnTo>
                    <a:pt x="0" y="300177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857750" y="3476625"/>
            <a:ext cx="361950" cy="371475"/>
            <a:chOff x="4857750" y="3476625"/>
            <a:chExt cx="361950" cy="371475"/>
          </a:xfrm>
        </p:grpSpPr>
        <p:sp>
          <p:nvSpPr>
            <p:cNvPr id="9" name="object 9"/>
            <p:cNvSpPr/>
            <p:nvPr/>
          </p:nvSpPr>
          <p:spPr>
            <a:xfrm>
              <a:off x="4862512" y="3481387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3036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18"/>
                  </a:lnTo>
                  <a:lnTo>
                    <a:pt x="0" y="309702"/>
                  </a:lnTo>
                  <a:lnTo>
                    <a:pt x="0" y="313131"/>
                  </a:lnTo>
                  <a:lnTo>
                    <a:pt x="17729" y="349072"/>
                  </a:lnTo>
                  <a:lnTo>
                    <a:pt x="48818" y="361950"/>
                  </a:lnTo>
                  <a:lnTo>
                    <a:pt x="303606" y="361950"/>
                  </a:lnTo>
                  <a:lnTo>
                    <a:pt x="339547" y="344220"/>
                  </a:lnTo>
                  <a:lnTo>
                    <a:pt x="352425" y="313131"/>
                  </a:lnTo>
                  <a:lnTo>
                    <a:pt x="352425" y="48818"/>
                  </a:lnTo>
                  <a:lnTo>
                    <a:pt x="334695" y="12877"/>
                  </a:lnTo>
                  <a:lnTo>
                    <a:pt x="307009" y="330"/>
                  </a:lnTo>
                  <a:lnTo>
                    <a:pt x="3036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62512" y="3481387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309702"/>
                  </a:moveTo>
                  <a:lnTo>
                    <a:pt x="0" y="52247"/>
                  </a:lnTo>
                  <a:lnTo>
                    <a:pt x="0" y="48818"/>
                  </a:lnTo>
                  <a:lnTo>
                    <a:pt x="330" y="45415"/>
                  </a:lnTo>
                  <a:lnTo>
                    <a:pt x="15303" y="15303"/>
                  </a:lnTo>
                  <a:lnTo>
                    <a:pt x="17729" y="12877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300177" y="0"/>
                  </a:lnTo>
                  <a:lnTo>
                    <a:pt x="303606" y="0"/>
                  </a:lnTo>
                  <a:lnTo>
                    <a:pt x="307009" y="330"/>
                  </a:lnTo>
                  <a:lnTo>
                    <a:pt x="329196" y="8801"/>
                  </a:lnTo>
                  <a:lnTo>
                    <a:pt x="332054" y="10706"/>
                  </a:lnTo>
                  <a:lnTo>
                    <a:pt x="334695" y="12877"/>
                  </a:lnTo>
                  <a:lnTo>
                    <a:pt x="337121" y="15303"/>
                  </a:lnTo>
                  <a:lnTo>
                    <a:pt x="339547" y="17729"/>
                  </a:lnTo>
                  <a:lnTo>
                    <a:pt x="351421" y="42049"/>
                  </a:lnTo>
                  <a:lnTo>
                    <a:pt x="352094" y="45415"/>
                  </a:lnTo>
                  <a:lnTo>
                    <a:pt x="352425" y="48818"/>
                  </a:lnTo>
                  <a:lnTo>
                    <a:pt x="352425" y="52247"/>
                  </a:lnTo>
                  <a:lnTo>
                    <a:pt x="352425" y="309702"/>
                  </a:lnTo>
                  <a:lnTo>
                    <a:pt x="352425" y="313131"/>
                  </a:lnTo>
                  <a:lnTo>
                    <a:pt x="352094" y="316534"/>
                  </a:lnTo>
                  <a:lnTo>
                    <a:pt x="351421" y="319900"/>
                  </a:lnTo>
                  <a:lnTo>
                    <a:pt x="350748" y="323265"/>
                  </a:lnTo>
                  <a:lnTo>
                    <a:pt x="343623" y="338721"/>
                  </a:lnTo>
                  <a:lnTo>
                    <a:pt x="341718" y="341579"/>
                  </a:lnTo>
                  <a:lnTo>
                    <a:pt x="339547" y="344220"/>
                  </a:lnTo>
                  <a:lnTo>
                    <a:pt x="337121" y="346646"/>
                  </a:lnTo>
                  <a:lnTo>
                    <a:pt x="334695" y="349072"/>
                  </a:lnTo>
                  <a:lnTo>
                    <a:pt x="332054" y="351243"/>
                  </a:lnTo>
                  <a:lnTo>
                    <a:pt x="329196" y="353148"/>
                  </a:lnTo>
                  <a:lnTo>
                    <a:pt x="326351" y="355053"/>
                  </a:lnTo>
                  <a:lnTo>
                    <a:pt x="303606" y="361950"/>
                  </a:lnTo>
                  <a:lnTo>
                    <a:pt x="300177" y="361950"/>
                  </a:lnTo>
                  <a:lnTo>
                    <a:pt x="52247" y="361950"/>
                  </a:lnTo>
                  <a:lnTo>
                    <a:pt x="48818" y="361950"/>
                  </a:lnTo>
                  <a:lnTo>
                    <a:pt x="45415" y="361607"/>
                  </a:lnTo>
                  <a:lnTo>
                    <a:pt x="15303" y="346646"/>
                  </a:lnTo>
                  <a:lnTo>
                    <a:pt x="12877" y="344220"/>
                  </a:lnTo>
                  <a:lnTo>
                    <a:pt x="0" y="313131"/>
                  </a:lnTo>
                  <a:lnTo>
                    <a:pt x="0" y="30970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857750" y="4486275"/>
            <a:ext cx="361950" cy="371475"/>
            <a:chOff x="4857750" y="4486275"/>
            <a:chExt cx="361950" cy="371475"/>
          </a:xfrm>
        </p:grpSpPr>
        <p:sp>
          <p:nvSpPr>
            <p:cNvPr id="12" name="object 12"/>
            <p:cNvSpPr/>
            <p:nvPr/>
          </p:nvSpPr>
          <p:spPr>
            <a:xfrm>
              <a:off x="4862512" y="4491037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3036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18"/>
                  </a:lnTo>
                  <a:lnTo>
                    <a:pt x="0" y="309702"/>
                  </a:lnTo>
                  <a:lnTo>
                    <a:pt x="0" y="313131"/>
                  </a:lnTo>
                  <a:lnTo>
                    <a:pt x="17729" y="349072"/>
                  </a:lnTo>
                  <a:lnTo>
                    <a:pt x="48818" y="361950"/>
                  </a:lnTo>
                  <a:lnTo>
                    <a:pt x="303606" y="361950"/>
                  </a:lnTo>
                  <a:lnTo>
                    <a:pt x="339547" y="344220"/>
                  </a:lnTo>
                  <a:lnTo>
                    <a:pt x="352425" y="313131"/>
                  </a:lnTo>
                  <a:lnTo>
                    <a:pt x="352425" y="48818"/>
                  </a:lnTo>
                  <a:lnTo>
                    <a:pt x="334695" y="12877"/>
                  </a:lnTo>
                  <a:lnTo>
                    <a:pt x="307009" y="330"/>
                  </a:lnTo>
                  <a:lnTo>
                    <a:pt x="3036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62512" y="4491037"/>
              <a:ext cx="352425" cy="361950"/>
            </a:xfrm>
            <a:custGeom>
              <a:avLst/>
              <a:gdLst/>
              <a:ahLst/>
              <a:cxnLst/>
              <a:rect l="l" t="t" r="r" b="b"/>
              <a:pathLst>
                <a:path w="352425" h="361950">
                  <a:moveTo>
                    <a:pt x="0" y="309702"/>
                  </a:moveTo>
                  <a:lnTo>
                    <a:pt x="0" y="52247"/>
                  </a:lnTo>
                  <a:lnTo>
                    <a:pt x="0" y="48818"/>
                  </a:lnTo>
                  <a:lnTo>
                    <a:pt x="330" y="45415"/>
                  </a:lnTo>
                  <a:lnTo>
                    <a:pt x="20370" y="10706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300177" y="0"/>
                  </a:lnTo>
                  <a:lnTo>
                    <a:pt x="303606" y="0"/>
                  </a:lnTo>
                  <a:lnTo>
                    <a:pt x="307009" y="330"/>
                  </a:lnTo>
                  <a:lnTo>
                    <a:pt x="329196" y="8801"/>
                  </a:lnTo>
                  <a:lnTo>
                    <a:pt x="332054" y="10706"/>
                  </a:lnTo>
                  <a:lnTo>
                    <a:pt x="352094" y="45415"/>
                  </a:lnTo>
                  <a:lnTo>
                    <a:pt x="352425" y="48818"/>
                  </a:lnTo>
                  <a:lnTo>
                    <a:pt x="352425" y="52247"/>
                  </a:lnTo>
                  <a:lnTo>
                    <a:pt x="352425" y="309702"/>
                  </a:lnTo>
                  <a:lnTo>
                    <a:pt x="352425" y="313131"/>
                  </a:lnTo>
                  <a:lnTo>
                    <a:pt x="352094" y="316534"/>
                  </a:lnTo>
                  <a:lnTo>
                    <a:pt x="343623" y="338721"/>
                  </a:lnTo>
                  <a:lnTo>
                    <a:pt x="341718" y="341579"/>
                  </a:lnTo>
                  <a:lnTo>
                    <a:pt x="329196" y="353148"/>
                  </a:lnTo>
                  <a:lnTo>
                    <a:pt x="326351" y="355053"/>
                  </a:lnTo>
                  <a:lnTo>
                    <a:pt x="303606" y="361950"/>
                  </a:lnTo>
                  <a:lnTo>
                    <a:pt x="300177" y="361950"/>
                  </a:lnTo>
                  <a:lnTo>
                    <a:pt x="52247" y="361950"/>
                  </a:lnTo>
                  <a:lnTo>
                    <a:pt x="48818" y="361950"/>
                  </a:lnTo>
                  <a:lnTo>
                    <a:pt x="45415" y="361607"/>
                  </a:lnTo>
                  <a:lnTo>
                    <a:pt x="10706" y="341579"/>
                  </a:lnTo>
                  <a:lnTo>
                    <a:pt x="8801" y="338721"/>
                  </a:lnTo>
                  <a:lnTo>
                    <a:pt x="6896" y="335876"/>
                  </a:lnTo>
                  <a:lnTo>
                    <a:pt x="0" y="313131"/>
                  </a:lnTo>
                  <a:lnTo>
                    <a:pt x="0" y="309702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857750" y="5495925"/>
            <a:ext cx="361950" cy="361950"/>
            <a:chOff x="4857750" y="5495925"/>
            <a:chExt cx="361950" cy="361950"/>
          </a:xfrm>
        </p:grpSpPr>
        <p:sp>
          <p:nvSpPr>
            <p:cNvPr id="15" name="object 15"/>
            <p:cNvSpPr/>
            <p:nvPr/>
          </p:nvSpPr>
          <p:spPr>
            <a:xfrm>
              <a:off x="4862512" y="55006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03606" y="0"/>
                  </a:moveTo>
                  <a:lnTo>
                    <a:pt x="48818" y="0"/>
                  </a:lnTo>
                  <a:lnTo>
                    <a:pt x="45415" y="332"/>
                  </a:lnTo>
                  <a:lnTo>
                    <a:pt x="10706" y="20364"/>
                  </a:lnTo>
                  <a:lnTo>
                    <a:pt x="0" y="48814"/>
                  </a:lnTo>
                  <a:lnTo>
                    <a:pt x="0" y="300181"/>
                  </a:lnTo>
                  <a:lnTo>
                    <a:pt x="0" y="303608"/>
                  </a:lnTo>
                  <a:lnTo>
                    <a:pt x="17729" y="339545"/>
                  </a:lnTo>
                  <a:lnTo>
                    <a:pt x="48818" y="352425"/>
                  </a:lnTo>
                  <a:lnTo>
                    <a:pt x="303606" y="352425"/>
                  </a:lnTo>
                  <a:lnTo>
                    <a:pt x="339547" y="334694"/>
                  </a:lnTo>
                  <a:lnTo>
                    <a:pt x="352425" y="303608"/>
                  </a:lnTo>
                  <a:lnTo>
                    <a:pt x="352425" y="48814"/>
                  </a:lnTo>
                  <a:lnTo>
                    <a:pt x="334695" y="12873"/>
                  </a:lnTo>
                  <a:lnTo>
                    <a:pt x="307009" y="332"/>
                  </a:lnTo>
                  <a:lnTo>
                    <a:pt x="303606" y="0"/>
                  </a:lnTo>
                  <a:close/>
                </a:path>
              </a:pathLst>
            </a:custGeom>
            <a:solidFill>
              <a:srgbClr val="D5DC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62512" y="55006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0" y="300181"/>
                  </a:moveTo>
                  <a:lnTo>
                    <a:pt x="0" y="52243"/>
                  </a:lnTo>
                  <a:lnTo>
                    <a:pt x="0" y="48814"/>
                  </a:lnTo>
                  <a:lnTo>
                    <a:pt x="330" y="45417"/>
                  </a:lnTo>
                  <a:lnTo>
                    <a:pt x="1003" y="42048"/>
                  </a:lnTo>
                  <a:lnTo>
                    <a:pt x="1676" y="38685"/>
                  </a:lnTo>
                  <a:lnTo>
                    <a:pt x="2667" y="35421"/>
                  </a:lnTo>
                  <a:lnTo>
                    <a:pt x="3975" y="32251"/>
                  </a:lnTo>
                  <a:lnTo>
                    <a:pt x="5283" y="29080"/>
                  </a:lnTo>
                  <a:lnTo>
                    <a:pt x="15303" y="15299"/>
                  </a:lnTo>
                  <a:lnTo>
                    <a:pt x="17729" y="12873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300177" y="0"/>
                  </a:lnTo>
                  <a:lnTo>
                    <a:pt x="303606" y="0"/>
                  </a:lnTo>
                  <a:lnTo>
                    <a:pt x="307009" y="332"/>
                  </a:lnTo>
                  <a:lnTo>
                    <a:pt x="329196" y="8806"/>
                  </a:lnTo>
                  <a:lnTo>
                    <a:pt x="332054" y="10711"/>
                  </a:lnTo>
                  <a:lnTo>
                    <a:pt x="334695" y="12873"/>
                  </a:lnTo>
                  <a:lnTo>
                    <a:pt x="337121" y="15299"/>
                  </a:lnTo>
                  <a:lnTo>
                    <a:pt x="339547" y="17725"/>
                  </a:lnTo>
                  <a:lnTo>
                    <a:pt x="348449" y="32251"/>
                  </a:lnTo>
                  <a:lnTo>
                    <a:pt x="349758" y="35421"/>
                  </a:lnTo>
                  <a:lnTo>
                    <a:pt x="350748" y="38685"/>
                  </a:lnTo>
                  <a:lnTo>
                    <a:pt x="351421" y="42048"/>
                  </a:lnTo>
                  <a:lnTo>
                    <a:pt x="352094" y="45417"/>
                  </a:lnTo>
                  <a:lnTo>
                    <a:pt x="352425" y="48814"/>
                  </a:lnTo>
                  <a:lnTo>
                    <a:pt x="352425" y="52243"/>
                  </a:lnTo>
                  <a:lnTo>
                    <a:pt x="352425" y="300181"/>
                  </a:lnTo>
                  <a:lnTo>
                    <a:pt x="352425" y="303608"/>
                  </a:lnTo>
                  <a:lnTo>
                    <a:pt x="352094" y="307007"/>
                  </a:lnTo>
                  <a:lnTo>
                    <a:pt x="343623" y="329203"/>
                  </a:lnTo>
                  <a:lnTo>
                    <a:pt x="341718" y="332055"/>
                  </a:lnTo>
                  <a:lnTo>
                    <a:pt x="339547" y="334694"/>
                  </a:lnTo>
                  <a:lnTo>
                    <a:pt x="337121" y="337120"/>
                  </a:lnTo>
                  <a:lnTo>
                    <a:pt x="334695" y="339545"/>
                  </a:lnTo>
                  <a:lnTo>
                    <a:pt x="332054" y="341713"/>
                  </a:lnTo>
                  <a:lnTo>
                    <a:pt x="329196" y="343618"/>
                  </a:lnTo>
                  <a:lnTo>
                    <a:pt x="326351" y="345523"/>
                  </a:lnTo>
                  <a:lnTo>
                    <a:pt x="303606" y="352425"/>
                  </a:lnTo>
                  <a:lnTo>
                    <a:pt x="300177" y="352425"/>
                  </a:lnTo>
                  <a:lnTo>
                    <a:pt x="52247" y="352425"/>
                  </a:lnTo>
                  <a:lnTo>
                    <a:pt x="48818" y="352425"/>
                  </a:lnTo>
                  <a:lnTo>
                    <a:pt x="45415" y="352087"/>
                  </a:lnTo>
                  <a:lnTo>
                    <a:pt x="15303" y="337120"/>
                  </a:lnTo>
                  <a:lnTo>
                    <a:pt x="12877" y="334694"/>
                  </a:lnTo>
                  <a:lnTo>
                    <a:pt x="10706" y="332055"/>
                  </a:lnTo>
                  <a:lnTo>
                    <a:pt x="8801" y="329203"/>
                  </a:lnTo>
                  <a:lnTo>
                    <a:pt x="6896" y="326350"/>
                  </a:lnTo>
                  <a:lnTo>
                    <a:pt x="0" y="303608"/>
                  </a:lnTo>
                  <a:lnTo>
                    <a:pt x="0" y="300181"/>
                  </a:lnTo>
                  <a:close/>
                </a:path>
              </a:pathLst>
            </a:custGeom>
            <a:ln w="9525">
              <a:solidFill>
                <a:srgbClr val="BAC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0"/>
              </a:spcBef>
            </a:pPr>
            <a:r>
              <a:rPr dirty="0"/>
              <a:t>The</a:t>
            </a:r>
            <a:r>
              <a:rPr spc="5" dirty="0"/>
              <a:t> </a:t>
            </a:r>
            <a:r>
              <a:rPr dirty="0"/>
              <a:t>new</a:t>
            </a:r>
            <a:r>
              <a:rPr spc="5" dirty="0"/>
              <a:t> </a:t>
            </a:r>
            <a:r>
              <a:rPr dirty="0"/>
              <a:t>methodology</a:t>
            </a:r>
            <a:r>
              <a:rPr spc="10" dirty="0"/>
              <a:t> </a:t>
            </a:r>
            <a:r>
              <a:rPr dirty="0"/>
              <a:t>addresses</a:t>
            </a:r>
            <a:r>
              <a:rPr spc="5" dirty="0"/>
              <a:t> </a:t>
            </a:r>
            <a:r>
              <a:rPr spc="-40" dirty="0"/>
              <a:t>key</a:t>
            </a:r>
            <a:r>
              <a:rPr spc="5" dirty="0"/>
              <a:t> </a:t>
            </a:r>
            <a:r>
              <a:rPr dirty="0"/>
              <a:t>limitations,</a:t>
            </a:r>
            <a:r>
              <a:rPr spc="10" dirty="0"/>
              <a:t> </a:t>
            </a:r>
            <a:r>
              <a:rPr dirty="0"/>
              <a:t>offering</a:t>
            </a:r>
            <a:r>
              <a:rPr spc="5" dirty="0"/>
              <a:t> </a:t>
            </a:r>
            <a:r>
              <a:rPr spc="-30" dirty="0"/>
              <a:t>a</a:t>
            </a:r>
            <a:r>
              <a:rPr spc="10" dirty="0"/>
              <a:t> </a:t>
            </a:r>
            <a:r>
              <a:rPr dirty="0"/>
              <a:t>more</a:t>
            </a:r>
            <a:r>
              <a:rPr spc="5" dirty="0"/>
              <a:t> </a:t>
            </a:r>
            <a:r>
              <a:rPr spc="-10" dirty="0"/>
              <a:t>reliable </a:t>
            </a:r>
            <a:r>
              <a:rPr spc="10" dirty="0"/>
              <a:t>and</a:t>
            </a:r>
            <a:r>
              <a:rPr spc="-55" dirty="0"/>
              <a:t> </a:t>
            </a:r>
            <a:r>
              <a:rPr spc="10" dirty="0"/>
              <a:t>performant</a:t>
            </a:r>
            <a:r>
              <a:rPr spc="-50" dirty="0"/>
              <a:t> </a:t>
            </a:r>
            <a:r>
              <a:rPr spc="10" dirty="0"/>
              <a:t>solution</a:t>
            </a:r>
            <a:r>
              <a:rPr spc="-50" dirty="0"/>
              <a:t> </a:t>
            </a:r>
            <a:r>
              <a:rPr spc="10" dirty="0"/>
              <a:t>for</a:t>
            </a:r>
            <a:r>
              <a:rPr spc="-50" dirty="0"/>
              <a:t> </a:t>
            </a:r>
            <a:r>
              <a:rPr spc="10" dirty="0"/>
              <a:t>mini</a:t>
            </a:r>
            <a:r>
              <a:rPr spc="-50" dirty="0"/>
              <a:t> </a:t>
            </a:r>
            <a:r>
              <a:rPr spc="10" dirty="0"/>
              <a:t>bank</a:t>
            </a:r>
            <a:r>
              <a:rPr spc="-55" dirty="0"/>
              <a:t> </a:t>
            </a:r>
            <a:r>
              <a:rPr spc="-10" dirty="0"/>
              <a:t>management.</a:t>
            </a: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pc="-10" dirty="0"/>
          </a:p>
          <a:p>
            <a:pPr marL="541655">
              <a:lnSpc>
                <a:spcPct val="100000"/>
              </a:lnSpc>
              <a:spcBef>
                <a:spcPts val="5"/>
              </a:spcBef>
            </a:pPr>
            <a:r>
              <a:rPr sz="1650" b="1" dirty="0">
                <a:latin typeface="Tahoma"/>
                <a:cs typeface="Tahoma"/>
              </a:rPr>
              <a:t>Improved</a:t>
            </a:r>
            <a:r>
              <a:rPr sz="1650" b="1" spc="60" dirty="0">
                <a:latin typeface="Tahoma"/>
                <a:cs typeface="Tahoma"/>
              </a:rPr>
              <a:t> </a:t>
            </a:r>
            <a:r>
              <a:rPr sz="1650" b="1" dirty="0">
                <a:latin typeface="Tahoma"/>
                <a:cs typeface="Tahoma"/>
              </a:rPr>
              <a:t>Data</a:t>
            </a:r>
            <a:r>
              <a:rPr sz="1650" b="1" spc="65" dirty="0">
                <a:latin typeface="Tahoma"/>
                <a:cs typeface="Tahoma"/>
              </a:rPr>
              <a:t> </a:t>
            </a:r>
            <a:r>
              <a:rPr sz="1650" b="1" spc="-10" dirty="0">
                <a:latin typeface="Tahoma"/>
                <a:cs typeface="Tahoma"/>
              </a:rPr>
              <a:t>Security</a:t>
            </a:r>
            <a:endParaRPr sz="165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120"/>
              </a:spcBef>
            </a:pPr>
            <a:r>
              <a:rPr spc="45" dirty="0"/>
              <a:t>Reduced</a:t>
            </a:r>
            <a:r>
              <a:rPr spc="-60" dirty="0"/>
              <a:t> </a:t>
            </a:r>
            <a:r>
              <a:rPr spc="-10" dirty="0"/>
              <a:t>risk</a:t>
            </a:r>
            <a:r>
              <a:rPr spc="-55" dirty="0"/>
              <a:t> </a:t>
            </a:r>
            <a:r>
              <a:rPr spc="60" dirty="0"/>
              <a:t>of</a:t>
            </a:r>
            <a:r>
              <a:rPr spc="-55" dirty="0"/>
              <a:t> </a:t>
            </a: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breaches</a:t>
            </a:r>
            <a:r>
              <a:rPr spc="-55" dirty="0"/>
              <a:t> </a:t>
            </a:r>
            <a:r>
              <a:rPr dirty="0"/>
              <a:t>through</a:t>
            </a:r>
            <a:r>
              <a:rPr spc="-55" dirty="0"/>
              <a:t> </a:t>
            </a:r>
            <a:r>
              <a:rPr spc="50" dirty="0"/>
              <a:t>basic</a:t>
            </a:r>
            <a:r>
              <a:rPr spc="-55" dirty="0"/>
              <a:t> </a:t>
            </a:r>
            <a:r>
              <a:rPr spc="-10" dirty="0"/>
              <a:t>encryption.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pc="-10" dirty="0"/>
          </a:p>
          <a:p>
            <a:pPr marL="541655">
              <a:lnSpc>
                <a:spcPct val="100000"/>
              </a:lnSpc>
            </a:pPr>
            <a:r>
              <a:rPr sz="1650" b="1" spc="65" dirty="0">
                <a:latin typeface="Tahoma"/>
                <a:cs typeface="Tahoma"/>
              </a:rPr>
              <a:t>Enhanced</a:t>
            </a:r>
            <a:r>
              <a:rPr sz="1650" b="1" spc="-20" dirty="0">
                <a:latin typeface="Tahoma"/>
                <a:cs typeface="Tahoma"/>
              </a:rPr>
              <a:t> </a:t>
            </a:r>
            <a:r>
              <a:rPr sz="1650" b="1" spc="-10" dirty="0">
                <a:latin typeface="Tahoma"/>
                <a:cs typeface="Tahoma"/>
              </a:rPr>
              <a:t>Performance</a:t>
            </a:r>
            <a:endParaRPr sz="165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120"/>
              </a:spcBef>
            </a:pPr>
            <a:r>
              <a:rPr dirty="0"/>
              <a:t>Faster</a:t>
            </a:r>
            <a:r>
              <a:rPr spc="-50" dirty="0"/>
              <a:t> </a:t>
            </a:r>
            <a:r>
              <a:rPr spc="10" dirty="0"/>
              <a:t>transactions</a:t>
            </a:r>
            <a:r>
              <a:rPr spc="-45" dirty="0"/>
              <a:t> </a:t>
            </a:r>
            <a:r>
              <a:rPr spc="10" dirty="0"/>
              <a:t>and</a:t>
            </a:r>
            <a:r>
              <a:rPr spc="-45" dirty="0"/>
              <a:t> </a:t>
            </a:r>
            <a:r>
              <a:rPr spc="10" dirty="0"/>
              <a:t>data</a:t>
            </a:r>
            <a:r>
              <a:rPr spc="-45" dirty="0"/>
              <a:t> </a:t>
            </a:r>
            <a:r>
              <a:rPr dirty="0"/>
              <a:t>retrieval</a:t>
            </a:r>
            <a:r>
              <a:rPr spc="-45" dirty="0"/>
              <a:t> </a:t>
            </a:r>
            <a:r>
              <a:rPr spc="10" dirty="0"/>
              <a:t>with</a:t>
            </a:r>
            <a:r>
              <a:rPr spc="-45" dirty="0"/>
              <a:t> </a:t>
            </a:r>
            <a:r>
              <a:rPr spc="10" dirty="0"/>
              <a:t>optimized</a:t>
            </a:r>
            <a:r>
              <a:rPr spc="-45" dirty="0"/>
              <a:t> </a:t>
            </a:r>
            <a:r>
              <a:rPr spc="10" dirty="0"/>
              <a:t>file</a:t>
            </a:r>
            <a:r>
              <a:rPr spc="-45" dirty="0"/>
              <a:t> </a:t>
            </a:r>
            <a:r>
              <a:rPr spc="-10" dirty="0"/>
              <a:t>access.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pc="-10" dirty="0"/>
          </a:p>
          <a:p>
            <a:pPr marL="541655">
              <a:lnSpc>
                <a:spcPct val="100000"/>
              </a:lnSpc>
            </a:pPr>
            <a:r>
              <a:rPr sz="1650" b="1" dirty="0">
                <a:latin typeface="Tahoma"/>
                <a:cs typeface="Tahoma"/>
              </a:rPr>
              <a:t>Better</a:t>
            </a:r>
            <a:r>
              <a:rPr sz="1650" b="1" spc="60" dirty="0">
                <a:latin typeface="Tahoma"/>
                <a:cs typeface="Tahoma"/>
              </a:rPr>
              <a:t> </a:t>
            </a:r>
            <a:r>
              <a:rPr sz="1650" b="1" dirty="0">
                <a:latin typeface="Tahoma"/>
                <a:cs typeface="Tahoma"/>
              </a:rPr>
              <a:t>User</a:t>
            </a:r>
            <a:r>
              <a:rPr sz="1650" b="1" spc="60" dirty="0">
                <a:latin typeface="Tahoma"/>
                <a:cs typeface="Tahoma"/>
              </a:rPr>
              <a:t> </a:t>
            </a:r>
            <a:r>
              <a:rPr sz="1650" b="1" spc="-10" dirty="0">
                <a:latin typeface="Tahoma"/>
                <a:cs typeface="Tahoma"/>
              </a:rPr>
              <a:t>Experience</a:t>
            </a:r>
            <a:endParaRPr sz="165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045"/>
              </a:spcBef>
            </a:pPr>
            <a:r>
              <a:rPr dirty="0"/>
              <a:t>Clear</a:t>
            </a:r>
            <a:r>
              <a:rPr spc="5" dirty="0"/>
              <a:t> </a:t>
            </a:r>
            <a:r>
              <a:rPr dirty="0"/>
              <a:t>error</a:t>
            </a:r>
            <a:r>
              <a:rPr spc="10" dirty="0"/>
              <a:t> </a:t>
            </a:r>
            <a:r>
              <a:rPr dirty="0"/>
              <a:t>handling</a:t>
            </a:r>
            <a:r>
              <a:rPr spc="1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dirty="0"/>
              <a:t>intuitive</a:t>
            </a:r>
            <a:r>
              <a:rPr spc="10" dirty="0"/>
              <a:t> </a:t>
            </a:r>
            <a:r>
              <a:rPr dirty="0"/>
              <a:t>menu-driven</a:t>
            </a:r>
            <a:r>
              <a:rPr spc="10" dirty="0"/>
              <a:t> </a:t>
            </a:r>
            <a:r>
              <a:rPr spc="-10" dirty="0"/>
              <a:t>interface.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pc="-10" dirty="0"/>
          </a:p>
          <a:p>
            <a:pPr marL="541655">
              <a:lnSpc>
                <a:spcPct val="100000"/>
              </a:lnSpc>
              <a:spcBef>
                <a:spcPts val="5"/>
              </a:spcBef>
            </a:pPr>
            <a:r>
              <a:rPr sz="1650" b="1" dirty="0">
                <a:latin typeface="Tahoma"/>
                <a:cs typeface="Tahoma"/>
              </a:rPr>
              <a:t>Modular</a:t>
            </a:r>
            <a:r>
              <a:rPr sz="1650" b="1" spc="305" dirty="0">
                <a:latin typeface="Tahoma"/>
                <a:cs typeface="Tahoma"/>
              </a:rPr>
              <a:t> </a:t>
            </a:r>
            <a:r>
              <a:rPr sz="1650" b="1" spc="-10" dirty="0">
                <a:latin typeface="Tahoma"/>
                <a:cs typeface="Tahoma"/>
              </a:rPr>
              <a:t>Design</a:t>
            </a:r>
            <a:endParaRPr sz="1650">
              <a:latin typeface="Tahoma"/>
              <a:cs typeface="Tahoma"/>
            </a:endParaRPr>
          </a:p>
          <a:p>
            <a:pPr marL="541655">
              <a:lnSpc>
                <a:spcPct val="100000"/>
              </a:lnSpc>
              <a:spcBef>
                <a:spcPts val="1045"/>
              </a:spcBef>
            </a:pPr>
            <a:r>
              <a:rPr dirty="0"/>
              <a:t>Easier</a:t>
            </a:r>
            <a:r>
              <a:rPr spc="-50" dirty="0"/>
              <a:t> </a:t>
            </a:r>
            <a:r>
              <a:rPr spc="65" dirty="0"/>
              <a:t>to</a:t>
            </a:r>
            <a:r>
              <a:rPr spc="-50" dirty="0"/>
              <a:t> </a:t>
            </a:r>
            <a:r>
              <a:rPr dirty="0"/>
              <a:t>maintain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expand</a:t>
            </a:r>
            <a:r>
              <a:rPr spc="-5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well-</a:t>
            </a:r>
            <a:r>
              <a:rPr spc="45" dirty="0"/>
              <a:t>defined</a:t>
            </a:r>
            <a:r>
              <a:rPr spc="-45" dirty="0"/>
              <a:t> </a:t>
            </a:r>
            <a:r>
              <a:rPr spc="-10" dirty="0"/>
              <a:t>functions.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1430000" cy="7172325"/>
          </a:xfrm>
          <a:custGeom>
            <a:avLst/>
            <a:gdLst/>
            <a:ahLst/>
            <a:cxnLst/>
            <a:rect l="l" t="t" r="r" b="b"/>
            <a:pathLst>
              <a:path w="11430000" h="7172325">
                <a:moveTo>
                  <a:pt x="11430000" y="0"/>
                </a:moveTo>
                <a:lnTo>
                  <a:pt x="0" y="0"/>
                </a:lnTo>
                <a:lnTo>
                  <a:pt x="0" y="7172325"/>
                </a:lnTo>
                <a:lnTo>
                  <a:pt x="11430000" y="71723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/>
              <a:t>Architecture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55" dirty="0"/>
              <a:t>Proposed</a:t>
            </a:r>
            <a:r>
              <a:rPr spc="-40" dirty="0"/>
              <a:t> </a:t>
            </a:r>
            <a:r>
              <a:rPr spc="55" dirty="0"/>
              <a:t>Methodology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2195" y="1729171"/>
            <a:ext cx="4643520" cy="41015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96198" y="1776679"/>
            <a:ext cx="2293620" cy="95821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50" b="1" dirty="0">
                <a:solidFill>
                  <a:srgbClr val="3B3434"/>
                </a:solidFill>
                <a:latin typeface="Tahoma"/>
                <a:cs typeface="Tahoma"/>
              </a:rPr>
              <a:t>Data</a:t>
            </a:r>
            <a:r>
              <a:rPr sz="1850" b="1" spc="5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rgbClr val="3B3434"/>
                </a:solidFill>
                <a:latin typeface="Tahoma"/>
                <a:cs typeface="Tahoma"/>
              </a:rPr>
              <a:t>Storage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09100"/>
              </a:lnSpc>
              <a:spcBef>
                <a:spcPts val="545"/>
              </a:spcBef>
            </a:pPr>
            <a:r>
              <a:rPr sz="1400" spc="10" dirty="0">
                <a:solidFill>
                  <a:srgbClr val="3B3434"/>
                </a:solidFill>
                <a:latin typeface="Verdana"/>
                <a:cs typeface="Verdana"/>
              </a:rPr>
              <a:t>Encrypted</a:t>
            </a:r>
            <a:r>
              <a:rPr sz="1400" spc="-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10" dirty="0">
                <a:solidFill>
                  <a:srgbClr val="3B3434"/>
                </a:solidFill>
                <a:latin typeface="Verdana"/>
                <a:cs typeface="Verdana"/>
              </a:rPr>
              <a:t>file</a:t>
            </a:r>
            <a:r>
              <a:rPr sz="140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10" dirty="0">
                <a:solidFill>
                  <a:srgbClr val="3B3434"/>
                </a:solidFill>
                <a:latin typeface="Verdana"/>
                <a:cs typeface="Verdana"/>
              </a:rPr>
              <a:t>system</a:t>
            </a:r>
            <a:r>
              <a:rPr sz="1400" spc="-5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3B3434"/>
                </a:solidFill>
                <a:latin typeface="Verdana"/>
                <a:cs typeface="Verdana"/>
              </a:rPr>
              <a:t>for </a:t>
            </a:r>
            <a:r>
              <a:rPr sz="1400" dirty="0">
                <a:solidFill>
                  <a:srgbClr val="3B3434"/>
                </a:solidFill>
                <a:latin typeface="Verdana"/>
                <a:cs typeface="Verdana"/>
              </a:rPr>
              <a:t>persistent</a:t>
            </a:r>
            <a:r>
              <a:rPr sz="1400" spc="15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3B3434"/>
                </a:solidFill>
                <a:latin typeface="Verdana"/>
                <a:cs typeface="Verdana"/>
              </a:rPr>
              <a:t>data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4258" y="3213218"/>
            <a:ext cx="2059939" cy="118046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779780">
              <a:lnSpc>
                <a:spcPct val="100000"/>
              </a:lnSpc>
              <a:spcBef>
                <a:spcPts val="1000"/>
              </a:spcBef>
            </a:pPr>
            <a:r>
              <a:rPr sz="1850" b="1" dirty="0">
                <a:solidFill>
                  <a:srgbClr val="3B3434"/>
                </a:solidFill>
                <a:latin typeface="Tahoma"/>
                <a:cs typeface="Tahoma"/>
              </a:rPr>
              <a:t>Core</a:t>
            </a:r>
            <a:r>
              <a:rPr sz="1850" b="1" spc="4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850" b="1" spc="-10" dirty="0">
                <a:solidFill>
                  <a:srgbClr val="3B3434"/>
                </a:solidFill>
                <a:latin typeface="Tahoma"/>
                <a:cs typeface="Tahoma"/>
              </a:rPr>
              <a:t>Logic</a:t>
            </a:r>
            <a:endParaRPr sz="1850">
              <a:latin typeface="Tahoma"/>
              <a:cs typeface="Tahoma"/>
            </a:endParaRPr>
          </a:p>
          <a:p>
            <a:pPr marL="613410" marR="5080" indent="-601345" algn="r">
              <a:lnSpc>
                <a:spcPct val="106700"/>
              </a:lnSpc>
              <a:spcBef>
                <a:spcPts val="590"/>
              </a:spcBef>
            </a:pPr>
            <a:r>
              <a:rPr sz="1400" spc="75" dirty="0">
                <a:solidFill>
                  <a:srgbClr val="3B3434"/>
                </a:solidFill>
                <a:latin typeface="Verdana"/>
                <a:cs typeface="Verdana"/>
              </a:rPr>
              <a:t>Account</a:t>
            </a:r>
            <a:r>
              <a:rPr sz="1400" spc="-1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B3434"/>
                </a:solidFill>
                <a:latin typeface="Verdana"/>
                <a:cs typeface="Verdana"/>
              </a:rPr>
              <a:t>management </a:t>
            </a:r>
            <a:r>
              <a:rPr sz="140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400" spc="-6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B3434"/>
                </a:solidFill>
                <a:latin typeface="Verdana"/>
                <a:cs typeface="Verdana"/>
              </a:rPr>
              <a:t>transaction </a:t>
            </a:r>
            <a:r>
              <a:rPr sz="1400" spc="40" dirty="0">
                <a:solidFill>
                  <a:srgbClr val="3B3434"/>
                </a:solidFill>
                <a:latin typeface="Verdana"/>
                <a:cs typeface="Verdana"/>
              </a:rPr>
              <a:t>processing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96194" y="4123704"/>
            <a:ext cx="2299970" cy="95821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50" b="1" dirty="0">
                <a:solidFill>
                  <a:srgbClr val="3B3434"/>
                </a:solidFill>
                <a:latin typeface="Tahoma"/>
                <a:cs typeface="Tahoma"/>
              </a:rPr>
              <a:t>User </a:t>
            </a:r>
            <a:r>
              <a:rPr sz="1850" b="1" spc="-10" dirty="0">
                <a:solidFill>
                  <a:srgbClr val="3B3434"/>
                </a:solidFill>
                <a:latin typeface="Tahoma"/>
                <a:cs typeface="Tahoma"/>
              </a:rPr>
              <a:t>Interface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09100"/>
              </a:lnSpc>
              <a:spcBef>
                <a:spcPts val="545"/>
              </a:spcBef>
            </a:pPr>
            <a:r>
              <a:rPr sz="1400" spc="50" dirty="0">
                <a:solidFill>
                  <a:srgbClr val="3B3434"/>
                </a:solidFill>
                <a:latin typeface="Verdana"/>
                <a:cs typeface="Verdana"/>
              </a:rPr>
              <a:t>Console-</a:t>
            </a:r>
            <a:r>
              <a:rPr sz="1400" spc="55" dirty="0">
                <a:solidFill>
                  <a:srgbClr val="3B3434"/>
                </a:solidFill>
                <a:latin typeface="Verdana"/>
                <a:cs typeface="Verdana"/>
              </a:rPr>
              <a:t>based</a:t>
            </a:r>
            <a:r>
              <a:rPr sz="1400" spc="-12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3B3434"/>
                </a:solidFill>
                <a:latin typeface="Verdana"/>
                <a:cs typeface="Verdana"/>
              </a:rPr>
              <a:t>menu</a:t>
            </a:r>
            <a:r>
              <a:rPr sz="1400" spc="-114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3B3434"/>
                </a:solidFill>
                <a:latin typeface="Verdana"/>
                <a:cs typeface="Verdana"/>
              </a:rPr>
              <a:t>for </a:t>
            </a:r>
            <a:r>
              <a:rPr sz="1400" dirty="0">
                <a:solidFill>
                  <a:srgbClr val="3B3434"/>
                </a:solidFill>
                <a:latin typeface="Verdana"/>
                <a:cs typeface="Verdana"/>
              </a:rPr>
              <a:t>user</a:t>
            </a:r>
            <a:r>
              <a:rPr sz="1400" spc="-13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B3434"/>
                </a:solidFill>
                <a:latin typeface="Verdana"/>
                <a:cs typeface="Verdana"/>
              </a:rPr>
              <a:t>interactions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7296" y="6134925"/>
            <a:ext cx="10139680" cy="558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90"/>
              </a:spcBef>
            </a:pP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This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layered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architecture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ensures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clear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separation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B3434"/>
                </a:solidFill>
                <a:latin typeface="Verdana"/>
                <a:cs typeface="Verdana"/>
              </a:rPr>
              <a:t>of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concerns,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making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the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B3434"/>
                </a:solidFill>
                <a:latin typeface="Verdana"/>
                <a:cs typeface="Verdana"/>
              </a:rPr>
              <a:t>system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more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organized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and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easier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65" dirty="0">
                <a:solidFill>
                  <a:srgbClr val="3B3434"/>
                </a:solidFill>
                <a:latin typeface="Verdana"/>
                <a:cs typeface="Verdana"/>
              </a:rPr>
              <a:t>to</a:t>
            </a:r>
            <a:r>
              <a:rPr sz="1250" spc="-70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B3434"/>
                </a:solidFill>
                <a:latin typeface="Verdana"/>
                <a:cs typeface="Verdana"/>
              </a:rPr>
              <a:t>develop</a:t>
            </a:r>
            <a:r>
              <a:rPr sz="1250" spc="-75" dirty="0">
                <a:solidFill>
                  <a:srgbClr val="3B3434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B3434"/>
                </a:solidFill>
                <a:latin typeface="Verdana"/>
                <a:cs typeface="Verdana"/>
              </a:rPr>
              <a:t>and </a:t>
            </a:r>
            <a:r>
              <a:rPr sz="1250" spc="-10" dirty="0">
                <a:solidFill>
                  <a:srgbClr val="3B3434"/>
                </a:solidFill>
                <a:latin typeface="Verdana"/>
                <a:cs typeface="Verdana"/>
              </a:rPr>
              <a:t>debug.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0794" y="1"/>
            <a:ext cx="9208413" cy="8886118"/>
          </a:xfrm>
          <a:custGeom>
            <a:avLst/>
            <a:gdLst/>
            <a:ahLst/>
            <a:cxnLst/>
            <a:rect l="l" t="t" r="r" b="b"/>
            <a:pathLst>
              <a:path w="11430000" h="11029950">
                <a:moveTo>
                  <a:pt x="11430000" y="0"/>
                </a:moveTo>
                <a:lnTo>
                  <a:pt x="0" y="0"/>
                </a:lnTo>
                <a:lnTo>
                  <a:pt x="0" y="11029950"/>
                </a:lnTo>
                <a:lnTo>
                  <a:pt x="11430000" y="110299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CF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6052" y="409"/>
            <a:ext cx="3453155" cy="888570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84004" y="373452"/>
            <a:ext cx="3995940" cy="2621267"/>
          </a:xfrm>
          <a:prstGeom prst="rect">
            <a:avLst/>
          </a:prstGeom>
        </p:spPr>
        <p:txBody>
          <a:bodyPr vert="horz" wrap="square" lIns="0" tIns="5116" rIns="0" bIns="0" rtlCol="0">
            <a:spAutoFit/>
          </a:bodyPr>
          <a:lstStyle/>
          <a:p>
            <a:pPr marL="10231" marR="4092" algn="just">
              <a:lnSpc>
                <a:spcPts val="3384"/>
              </a:lnSpc>
              <a:spcBef>
                <a:spcPts val="40"/>
              </a:spcBef>
            </a:pPr>
            <a:r>
              <a:rPr spc="230" dirty="0"/>
              <a:t>Mini</a:t>
            </a:r>
            <a:r>
              <a:rPr spc="85" dirty="0"/>
              <a:t> </a:t>
            </a:r>
            <a:r>
              <a:rPr spc="201" dirty="0"/>
              <a:t>Bank</a:t>
            </a:r>
            <a:r>
              <a:rPr spc="89" dirty="0"/>
              <a:t> </a:t>
            </a:r>
            <a:r>
              <a:rPr spc="189" dirty="0"/>
              <a:t>Management </a:t>
            </a:r>
            <a:r>
              <a:rPr spc="133" dirty="0"/>
              <a:t>System:</a:t>
            </a:r>
            <a:r>
              <a:rPr spc="92" dirty="0"/>
              <a:t> </a:t>
            </a:r>
            <a:r>
              <a:rPr spc="125" dirty="0"/>
              <a:t>Revolutionizing </a:t>
            </a:r>
            <a:r>
              <a:rPr spc="184" dirty="0"/>
              <a:t>Financial</a:t>
            </a:r>
            <a:r>
              <a:rPr spc="81" dirty="0"/>
              <a:t> </a:t>
            </a:r>
            <a:r>
              <a:rPr spc="145" dirty="0"/>
              <a:t>Services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84004" y="1828381"/>
            <a:ext cx="4713173" cy="662242"/>
          </a:xfrm>
          <a:prstGeom prst="rect">
            <a:avLst/>
          </a:prstGeom>
        </p:spPr>
        <p:txBody>
          <a:bodyPr vert="horz" wrap="square" lIns="0" tIns="10232" rIns="0" bIns="0" rtlCol="0">
            <a:spAutoFit/>
          </a:bodyPr>
          <a:lstStyle/>
          <a:p>
            <a:pPr marL="10231" marR="4092">
              <a:lnSpc>
                <a:spcPct val="134300"/>
              </a:lnSpc>
              <a:spcBef>
                <a:spcPts val="81"/>
              </a:spcBef>
            </a:pP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Discover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how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streamlined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mini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bank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management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system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can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transform operations,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enhance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customer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experience,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drive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significant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growth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the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financial</a:t>
            </a:r>
            <a:r>
              <a:rPr sz="1088" spc="-4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sector.</a:t>
            </a:r>
            <a:endParaRPr sz="1088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94235" y="2701134"/>
            <a:ext cx="4788375" cy="1350567"/>
            <a:chOff x="600075" y="3352799"/>
            <a:chExt cx="5943600" cy="1676400"/>
          </a:xfrm>
        </p:grpSpPr>
        <p:sp>
          <p:nvSpPr>
            <p:cNvPr id="9" name="object 9"/>
            <p:cNvSpPr/>
            <p:nvPr/>
          </p:nvSpPr>
          <p:spPr>
            <a:xfrm>
              <a:off x="600075" y="3352799"/>
              <a:ext cx="5943600" cy="1676400"/>
            </a:xfrm>
            <a:custGeom>
              <a:avLst/>
              <a:gdLst/>
              <a:ahLst/>
              <a:cxnLst/>
              <a:rect l="l" t="t" r="r" b="b"/>
              <a:pathLst>
                <a:path w="5943600" h="1676400">
                  <a:moveTo>
                    <a:pt x="592500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1654975"/>
                  </a:lnTo>
                  <a:lnTo>
                    <a:pt x="0" y="1657807"/>
                  </a:lnTo>
                  <a:lnTo>
                    <a:pt x="18588" y="1676400"/>
                  </a:lnTo>
                  <a:lnTo>
                    <a:pt x="5925007" y="1676400"/>
                  </a:lnTo>
                  <a:lnTo>
                    <a:pt x="5943600" y="1657807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E9E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4" y="3524250"/>
              <a:ext cx="514349" cy="5143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7837" y="3661925"/>
              <a:ext cx="224552" cy="24183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722130" y="3385370"/>
            <a:ext cx="4408272" cy="488501"/>
          </a:xfrm>
          <a:prstGeom prst="rect">
            <a:avLst/>
          </a:prstGeom>
        </p:spPr>
        <p:txBody>
          <a:bodyPr vert="horz" wrap="square" lIns="0" tIns="13813" rIns="0" bIns="0" rtlCol="0">
            <a:spAutoFit/>
          </a:bodyPr>
          <a:lstStyle/>
          <a:p>
            <a:pPr marL="10231">
              <a:spcBef>
                <a:spcPts val="109"/>
              </a:spcBef>
            </a:pPr>
            <a:r>
              <a:rPr sz="1329" spc="109" dirty="0">
                <a:solidFill>
                  <a:srgbClr val="15203F"/>
                </a:solidFill>
                <a:latin typeface="Cambria"/>
                <a:cs typeface="Cambria"/>
              </a:rPr>
              <a:t>Enhanced</a:t>
            </a:r>
            <a:r>
              <a:rPr sz="1329" spc="68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81" dirty="0">
                <a:solidFill>
                  <a:srgbClr val="15203F"/>
                </a:solidFill>
                <a:latin typeface="Cambria"/>
                <a:cs typeface="Cambria"/>
              </a:rPr>
              <a:t>Efficiency</a:t>
            </a:r>
            <a:endParaRPr sz="1329">
              <a:latin typeface="Cambria"/>
              <a:cs typeface="Cambria"/>
            </a:endParaRPr>
          </a:p>
          <a:p>
            <a:pPr marL="10231">
              <a:spcBef>
                <a:spcPts val="821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Automate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routine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tasks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reduce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manual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errors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faster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processing.</a:t>
            </a:r>
            <a:endParaRPr sz="1088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94235" y="4189827"/>
            <a:ext cx="4788375" cy="1342894"/>
            <a:chOff x="600075" y="5200649"/>
            <a:chExt cx="5943600" cy="1666875"/>
          </a:xfrm>
        </p:grpSpPr>
        <p:sp>
          <p:nvSpPr>
            <p:cNvPr id="14" name="object 14"/>
            <p:cNvSpPr/>
            <p:nvPr/>
          </p:nvSpPr>
          <p:spPr>
            <a:xfrm>
              <a:off x="600075" y="5200649"/>
              <a:ext cx="5943600" cy="1666875"/>
            </a:xfrm>
            <a:custGeom>
              <a:avLst/>
              <a:gdLst/>
              <a:ahLst/>
              <a:cxnLst/>
              <a:rect l="l" t="t" r="r" b="b"/>
              <a:pathLst>
                <a:path w="5943600" h="1666875">
                  <a:moveTo>
                    <a:pt x="592500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1645450"/>
                  </a:lnTo>
                  <a:lnTo>
                    <a:pt x="0" y="1648282"/>
                  </a:lnTo>
                  <a:lnTo>
                    <a:pt x="18588" y="1666875"/>
                  </a:lnTo>
                  <a:lnTo>
                    <a:pt x="5925007" y="1666875"/>
                  </a:lnTo>
                  <a:lnTo>
                    <a:pt x="5943600" y="1648282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E9E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524" y="5372100"/>
              <a:ext cx="514349" cy="5143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1629" y="5500324"/>
              <a:ext cx="196969" cy="24168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722130" y="4874064"/>
            <a:ext cx="4324885" cy="488501"/>
          </a:xfrm>
          <a:prstGeom prst="rect">
            <a:avLst/>
          </a:prstGeom>
        </p:spPr>
        <p:txBody>
          <a:bodyPr vert="horz" wrap="square" lIns="0" tIns="13813" rIns="0" bIns="0" rtlCol="0">
            <a:spAutoFit/>
          </a:bodyPr>
          <a:lstStyle/>
          <a:p>
            <a:pPr marL="10231">
              <a:spcBef>
                <a:spcPts val="109"/>
              </a:spcBef>
            </a:pPr>
            <a:r>
              <a:rPr sz="1329" spc="56" dirty="0">
                <a:solidFill>
                  <a:srgbClr val="15203F"/>
                </a:solidFill>
                <a:latin typeface="Cambria"/>
                <a:cs typeface="Cambria"/>
              </a:rPr>
              <a:t>Robust</a:t>
            </a:r>
            <a:r>
              <a:rPr sz="1329" spc="60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64" dirty="0">
                <a:solidFill>
                  <a:srgbClr val="15203F"/>
                </a:solidFill>
                <a:latin typeface="Cambria"/>
                <a:cs typeface="Cambria"/>
              </a:rPr>
              <a:t>Security</a:t>
            </a:r>
            <a:endParaRPr sz="1329">
              <a:latin typeface="Cambria"/>
              <a:cs typeface="Cambria"/>
            </a:endParaRPr>
          </a:p>
          <a:p>
            <a:pPr marL="10231">
              <a:spcBef>
                <a:spcPts val="821"/>
              </a:spcBef>
            </a:pP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Implement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advanced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encryption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fraud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detection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protect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assets.</a:t>
            </a:r>
            <a:endParaRPr sz="1088">
              <a:latin typeface="Roboto"/>
              <a:cs typeface="Robo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94235" y="5670848"/>
            <a:ext cx="4788375" cy="1350567"/>
            <a:chOff x="600075" y="7038975"/>
            <a:chExt cx="5943600" cy="1676400"/>
          </a:xfrm>
        </p:grpSpPr>
        <p:sp>
          <p:nvSpPr>
            <p:cNvPr id="19" name="object 19"/>
            <p:cNvSpPr/>
            <p:nvPr/>
          </p:nvSpPr>
          <p:spPr>
            <a:xfrm>
              <a:off x="600075" y="7038975"/>
              <a:ext cx="5943600" cy="1676400"/>
            </a:xfrm>
            <a:custGeom>
              <a:avLst/>
              <a:gdLst/>
              <a:ahLst/>
              <a:cxnLst/>
              <a:rect l="l" t="t" r="r" b="b"/>
              <a:pathLst>
                <a:path w="5943600" h="1676400">
                  <a:moveTo>
                    <a:pt x="592500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1654975"/>
                  </a:lnTo>
                  <a:lnTo>
                    <a:pt x="0" y="1657807"/>
                  </a:lnTo>
                  <a:lnTo>
                    <a:pt x="18588" y="1676400"/>
                  </a:lnTo>
                  <a:lnTo>
                    <a:pt x="5925007" y="1676400"/>
                  </a:lnTo>
                  <a:lnTo>
                    <a:pt x="5943600" y="1657807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E9E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524" y="7210425"/>
              <a:ext cx="514349" cy="5143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3124" y="7347922"/>
              <a:ext cx="193977" cy="23680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722130" y="6355083"/>
            <a:ext cx="4497798" cy="488501"/>
          </a:xfrm>
          <a:prstGeom prst="rect">
            <a:avLst/>
          </a:prstGeom>
        </p:spPr>
        <p:txBody>
          <a:bodyPr vert="horz" wrap="square" lIns="0" tIns="13813" rIns="0" bIns="0" rtlCol="0">
            <a:spAutoFit/>
          </a:bodyPr>
          <a:lstStyle/>
          <a:p>
            <a:pPr marL="10231">
              <a:spcBef>
                <a:spcPts val="109"/>
              </a:spcBef>
            </a:pPr>
            <a:r>
              <a:rPr sz="1329" spc="56" dirty="0">
                <a:solidFill>
                  <a:srgbClr val="15203F"/>
                </a:solidFill>
                <a:latin typeface="Cambria"/>
                <a:cs typeface="Cambria"/>
              </a:rPr>
              <a:t>Superior</a:t>
            </a:r>
            <a:r>
              <a:rPr sz="1329" spc="52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157" dirty="0">
                <a:solidFill>
                  <a:srgbClr val="15203F"/>
                </a:solidFill>
                <a:latin typeface="Cambria"/>
                <a:cs typeface="Cambria"/>
              </a:rPr>
              <a:t>CX</a:t>
            </a:r>
            <a:endParaRPr sz="1329">
              <a:latin typeface="Cambria"/>
              <a:cs typeface="Cambria"/>
            </a:endParaRPr>
          </a:p>
          <a:p>
            <a:pPr marL="10231">
              <a:spcBef>
                <a:spcPts val="821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Offer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personalized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services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 intuitive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interfaces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client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satisfaction.</a:t>
            </a:r>
            <a:endParaRPr sz="1088">
              <a:latin typeface="Roboto"/>
              <a:cs typeface="Robot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594235" y="7159541"/>
            <a:ext cx="4788375" cy="1350567"/>
            <a:chOff x="600075" y="8886825"/>
            <a:chExt cx="5943600" cy="1676400"/>
          </a:xfrm>
        </p:grpSpPr>
        <p:sp>
          <p:nvSpPr>
            <p:cNvPr id="24" name="object 24"/>
            <p:cNvSpPr/>
            <p:nvPr/>
          </p:nvSpPr>
          <p:spPr>
            <a:xfrm>
              <a:off x="600075" y="8886825"/>
              <a:ext cx="5943600" cy="1676400"/>
            </a:xfrm>
            <a:custGeom>
              <a:avLst/>
              <a:gdLst/>
              <a:ahLst/>
              <a:cxnLst/>
              <a:rect l="l" t="t" r="r" b="b"/>
              <a:pathLst>
                <a:path w="5943600" h="1676400">
                  <a:moveTo>
                    <a:pt x="592500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1654966"/>
                  </a:lnTo>
                  <a:lnTo>
                    <a:pt x="0" y="1657808"/>
                  </a:lnTo>
                  <a:lnTo>
                    <a:pt x="18588" y="1676397"/>
                  </a:lnTo>
                  <a:lnTo>
                    <a:pt x="5925007" y="1676397"/>
                  </a:lnTo>
                  <a:lnTo>
                    <a:pt x="5943600" y="1657808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E9E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1524" y="9058275"/>
              <a:ext cx="514349" cy="51434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4891" y="9195855"/>
              <a:ext cx="230688" cy="24185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722130" y="7843778"/>
            <a:ext cx="3866510" cy="488501"/>
          </a:xfrm>
          <a:prstGeom prst="rect">
            <a:avLst/>
          </a:prstGeom>
        </p:spPr>
        <p:txBody>
          <a:bodyPr vert="horz" wrap="square" lIns="0" tIns="13813" rIns="0" bIns="0" rtlCol="0">
            <a:spAutoFit/>
          </a:bodyPr>
          <a:lstStyle/>
          <a:p>
            <a:pPr marL="10231">
              <a:spcBef>
                <a:spcPts val="109"/>
              </a:spcBef>
            </a:pPr>
            <a:r>
              <a:rPr sz="1329" spc="85" dirty="0">
                <a:solidFill>
                  <a:srgbClr val="15203F"/>
                </a:solidFill>
                <a:latin typeface="Cambria"/>
                <a:cs typeface="Cambria"/>
              </a:rPr>
              <a:t>Scalable</a:t>
            </a:r>
            <a:r>
              <a:rPr sz="1329" spc="44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60" dirty="0">
                <a:solidFill>
                  <a:srgbClr val="15203F"/>
                </a:solidFill>
                <a:latin typeface="Cambria"/>
                <a:cs typeface="Cambria"/>
              </a:rPr>
              <a:t>Growth</a:t>
            </a:r>
            <a:endParaRPr sz="1329">
              <a:latin typeface="Cambria"/>
              <a:cs typeface="Cambria"/>
            </a:endParaRPr>
          </a:p>
          <a:p>
            <a:pPr marL="10231">
              <a:spcBef>
                <a:spcPts val="821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Adapt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increasing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demands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expand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services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effortlessly.</a:t>
            </a:r>
            <a:endParaRPr sz="1088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0794" y="0"/>
            <a:ext cx="9208413" cy="6415194"/>
          </a:xfrm>
          <a:custGeom>
            <a:avLst/>
            <a:gdLst/>
            <a:ahLst/>
            <a:cxnLst/>
            <a:rect l="l" t="t" r="r" b="b"/>
            <a:pathLst>
              <a:path w="11430000" h="7962900">
                <a:moveTo>
                  <a:pt x="11430000" y="0"/>
                </a:moveTo>
                <a:lnTo>
                  <a:pt x="0" y="0"/>
                </a:lnTo>
                <a:lnTo>
                  <a:pt x="0" y="7962900"/>
                </a:lnTo>
                <a:lnTo>
                  <a:pt x="11430000" y="7962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CF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6052" y="204"/>
            <a:ext cx="3453155" cy="641498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89" rIns="0" bIns="0" rtlCol="0">
            <a:spAutoFit/>
          </a:bodyPr>
          <a:lstStyle/>
          <a:p>
            <a:pPr marL="10231">
              <a:spcBef>
                <a:spcPts val="101"/>
              </a:spcBef>
            </a:pPr>
            <a:r>
              <a:rPr spc="145" dirty="0"/>
              <a:t>Key</a:t>
            </a:r>
            <a:r>
              <a:rPr spc="36" dirty="0"/>
              <a:t> </a:t>
            </a:r>
            <a:r>
              <a:rPr spc="173" dirty="0"/>
              <a:t>Achievements</a:t>
            </a:r>
            <a:r>
              <a:rPr spc="40" dirty="0"/>
              <a:t> </a:t>
            </a:r>
            <a:r>
              <a:rPr dirty="0"/>
              <a:t>&amp;</a:t>
            </a:r>
            <a:r>
              <a:rPr spc="36" dirty="0"/>
              <a:t> </a:t>
            </a:r>
            <a:r>
              <a:rPr spc="145" dirty="0"/>
              <a:t>Impact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84004" y="968929"/>
            <a:ext cx="4234335" cy="662242"/>
          </a:xfrm>
          <a:prstGeom prst="rect">
            <a:avLst/>
          </a:prstGeom>
        </p:spPr>
        <p:txBody>
          <a:bodyPr vert="horz" wrap="square" lIns="0" tIns="10232" rIns="0" bIns="0" rtlCol="0">
            <a:spAutoFit/>
          </a:bodyPr>
          <a:lstStyle/>
          <a:p>
            <a:pPr marL="10231" marR="4092">
              <a:lnSpc>
                <a:spcPct val="134300"/>
              </a:lnSpc>
              <a:spcBef>
                <a:spcPts val="81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Our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mini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bank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management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зyзtem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haз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delivered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tangible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reзultз, зhоwсaзing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itз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pоwerful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сapabilitieз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pозitive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impaсt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оn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finanсial inзtitutiоnз.</a:t>
            </a:r>
            <a:endParaRPr sz="1088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24930" y="2731829"/>
            <a:ext cx="46042" cy="46042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24930" y="3660344"/>
            <a:ext cx="46042" cy="46042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24930" y="4596533"/>
            <a:ext cx="46042" cy="46042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84004" y="1969578"/>
            <a:ext cx="2208484" cy="3189653"/>
          </a:xfrm>
          <a:prstGeom prst="rect">
            <a:avLst/>
          </a:prstGeom>
        </p:spPr>
        <p:txBody>
          <a:bodyPr vert="horz" wrap="square" lIns="0" tIns="8697" rIns="0" bIns="0" rtlCol="0">
            <a:spAutoFit/>
          </a:bodyPr>
          <a:lstStyle/>
          <a:p>
            <a:pPr marL="10231" marR="1051759">
              <a:lnSpc>
                <a:spcPts val="2054"/>
              </a:lnSpc>
              <a:spcBef>
                <a:spcPts val="68"/>
              </a:spcBef>
            </a:pPr>
            <a:r>
              <a:rPr sz="1611" spc="60" dirty="0">
                <a:solidFill>
                  <a:srgbClr val="3157B7"/>
                </a:solidFill>
                <a:latin typeface="Cambria"/>
                <a:cs typeface="Cambria"/>
              </a:rPr>
              <a:t>Operational </a:t>
            </a:r>
            <a:r>
              <a:rPr sz="1611" spc="92" dirty="0">
                <a:solidFill>
                  <a:srgbClr val="3157B7"/>
                </a:solidFill>
                <a:latin typeface="Cambria"/>
                <a:cs typeface="Cambria"/>
              </a:rPr>
              <a:t>Excellence</a:t>
            </a:r>
            <a:endParaRPr sz="1611">
              <a:latin typeface="Cambria"/>
              <a:cs typeface="Cambria"/>
            </a:endParaRPr>
          </a:p>
          <a:p>
            <a:pPr marL="230712" marR="32740">
              <a:lnSpc>
                <a:spcPct val="132700"/>
              </a:lnSpc>
              <a:spcBef>
                <a:spcPts val="794"/>
              </a:spcBef>
            </a:pP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50%</a:t>
            </a:r>
            <a:r>
              <a:rPr sz="1088" b="1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Reduction</a:t>
            </a:r>
            <a:r>
              <a:rPr sz="1088" b="1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088" b="1" spc="-6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spc="-8" dirty="0">
                <a:solidFill>
                  <a:srgbClr val="15203F"/>
                </a:solidFill>
                <a:latin typeface="Roboto"/>
                <a:cs typeface="Roboto"/>
              </a:rPr>
              <a:t>Transaction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Time:</a:t>
            </a:r>
            <a:r>
              <a:rPr sz="1088" b="1" spc="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Autоmated</a:t>
            </a:r>
            <a:r>
              <a:rPr sz="1088" spc="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prосeззeз 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draзtiсally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сut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dоwn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prосeззing duratiоnз.</a:t>
            </a:r>
            <a:endParaRPr sz="1088">
              <a:latin typeface="Roboto"/>
              <a:cs typeface="Roboto"/>
            </a:endParaRPr>
          </a:p>
          <a:p>
            <a:pPr marL="230712" marR="241454">
              <a:lnSpc>
                <a:spcPct val="132700"/>
              </a:lnSpc>
              <a:spcBef>
                <a:spcPts val="383"/>
              </a:spcBef>
            </a:pP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99.9%</a:t>
            </a:r>
            <a:r>
              <a:rPr sz="1088" b="1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Uptime</a:t>
            </a:r>
            <a:r>
              <a:rPr sz="1088" b="1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spc="-8" dirty="0">
                <a:solidFill>
                  <a:srgbClr val="15203F"/>
                </a:solidFill>
                <a:latin typeface="Roboto"/>
                <a:cs typeface="Roboto"/>
              </a:rPr>
              <a:t>Guarantee: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Enзuring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соntinuоuз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 зerviсe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availability</a:t>
            </a:r>
            <a:r>
              <a:rPr sz="1088" spc="-1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fоr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 сritiсal оperatiоnз.</a:t>
            </a:r>
            <a:endParaRPr sz="1088">
              <a:latin typeface="Roboto"/>
              <a:cs typeface="Roboto"/>
            </a:endParaRPr>
          </a:p>
          <a:p>
            <a:pPr marL="230712" marR="4092">
              <a:lnSpc>
                <a:spcPct val="131900"/>
              </a:lnSpc>
              <a:spcBef>
                <a:spcPts val="451"/>
              </a:spcBef>
            </a:pP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30%</a:t>
            </a:r>
            <a:r>
              <a:rPr sz="1088" b="1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Decrease</a:t>
            </a:r>
            <a:r>
              <a:rPr sz="1088" b="1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088" b="1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Manual</a:t>
            </a:r>
            <a:r>
              <a:rPr sz="1088" b="1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spc="-8" dirty="0">
                <a:solidFill>
                  <a:srgbClr val="15203F"/>
                </a:solidFill>
                <a:latin typeface="Roboto"/>
                <a:cs typeface="Roboto"/>
              </a:rPr>
              <a:t>Errors: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Enhanсed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aссuraсy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thrоugh intelligent</a:t>
            </a:r>
            <a:r>
              <a:rPr sz="1088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autоmatiоn.</a:t>
            </a:r>
            <a:endParaRPr sz="1088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95612" y="2731829"/>
            <a:ext cx="46042" cy="46042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95612" y="3660344"/>
            <a:ext cx="46042" cy="46042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95612" y="4596533"/>
            <a:ext cx="46042" cy="46042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1520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54327" y="1969577"/>
            <a:ext cx="2197230" cy="3404070"/>
          </a:xfrm>
          <a:prstGeom prst="rect">
            <a:avLst/>
          </a:prstGeom>
        </p:spPr>
        <p:txBody>
          <a:bodyPr vert="horz" wrap="square" lIns="0" tIns="8697" rIns="0" bIns="0" rtlCol="0">
            <a:spAutoFit/>
          </a:bodyPr>
          <a:lstStyle/>
          <a:p>
            <a:pPr marL="10231" marR="195925">
              <a:lnSpc>
                <a:spcPts val="2054"/>
              </a:lnSpc>
              <a:spcBef>
                <a:spcPts val="68"/>
              </a:spcBef>
            </a:pPr>
            <a:r>
              <a:rPr sz="1611" spc="81" dirty="0">
                <a:solidFill>
                  <a:srgbClr val="3157B7"/>
                </a:solidFill>
                <a:latin typeface="Cambria"/>
                <a:cs typeface="Cambria"/>
              </a:rPr>
              <a:t>Customer</a:t>
            </a:r>
            <a:r>
              <a:rPr sz="1611" spc="4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611" dirty="0">
                <a:solidFill>
                  <a:srgbClr val="3157B7"/>
                </a:solidFill>
                <a:latin typeface="Cambria"/>
                <a:cs typeface="Cambria"/>
              </a:rPr>
              <a:t>&amp;</a:t>
            </a:r>
            <a:r>
              <a:rPr sz="1611" spc="4" dirty="0">
                <a:solidFill>
                  <a:srgbClr val="3157B7"/>
                </a:solidFill>
                <a:latin typeface="Cambria"/>
                <a:cs typeface="Cambria"/>
              </a:rPr>
              <a:t> </a:t>
            </a:r>
            <a:r>
              <a:rPr sz="1611" spc="81" dirty="0">
                <a:solidFill>
                  <a:srgbClr val="3157B7"/>
                </a:solidFill>
                <a:latin typeface="Cambria"/>
                <a:cs typeface="Cambria"/>
              </a:rPr>
              <a:t>Security </a:t>
            </a:r>
            <a:r>
              <a:rPr sz="1611" spc="92" dirty="0">
                <a:solidFill>
                  <a:srgbClr val="3157B7"/>
                </a:solidFill>
                <a:latin typeface="Cambria"/>
                <a:cs typeface="Cambria"/>
              </a:rPr>
              <a:t>Highlights</a:t>
            </a:r>
            <a:endParaRPr sz="1611">
              <a:latin typeface="Cambria"/>
              <a:cs typeface="Cambria"/>
            </a:endParaRPr>
          </a:p>
          <a:p>
            <a:pPr marL="230712" marR="89522">
              <a:lnSpc>
                <a:spcPct val="132700"/>
              </a:lnSpc>
              <a:spcBef>
                <a:spcPts val="794"/>
              </a:spcBef>
            </a:pP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25%</a:t>
            </a:r>
            <a:r>
              <a:rPr sz="1088" b="1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Increase</a:t>
            </a:r>
            <a:r>
              <a:rPr sz="1088" b="1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088" b="1" spc="-1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spc="-8" dirty="0">
                <a:solidFill>
                  <a:srgbClr val="15203F"/>
                </a:solidFill>
                <a:latin typeface="Roboto"/>
                <a:cs typeface="Roboto"/>
              </a:rPr>
              <a:t>Customer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Satisfaction:</a:t>
            </a:r>
            <a:r>
              <a:rPr sz="1088" b="1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Imprоved</a:t>
            </a:r>
            <a:r>
              <a:rPr sz="1088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зerviсe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зpeed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perзоnalized interaсtiоnз.</a:t>
            </a:r>
            <a:endParaRPr sz="1088">
              <a:latin typeface="Roboto"/>
              <a:cs typeface="Roboto"/>
            </a:endParaRPr>
          </a:p>
          <a:p>
            <a:pPr marL="230712" marR="376504">
              <a:lnSpc>
                <a:spcPct val="132700"/>
              </a:lnSpc>
              <a:spcBef>
                <a:spcPts val="383"/>
              </a:spcBef>
            </a:pP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Zero Security </a:t>
            </a:r>
            <a:r>
              <a:rPr sz="1088" b="1" spc="-8" dirty="0">
                <a:solidFill>
                  <a:srgbClr val="15203F"/>
                </a:solidFill>
                <a:latin typeface="Roboto"/>
                <a:cs typeface="Roboto"/>
              </a:rPr>
              <a:t>Breaches: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Advanсed</a:t>
            </a:r>
            <a:r>
              <a:rPr sz="1088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prоtосоlз 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зuссeззfully</a:t>
            </a:r>
            <a:r>
              <a:rPr sz="1088" spc="-1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prevented 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all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unauthоrized</a:t>
            </a:r>
            <a:r>
              <a:rPr sz="1088" spc="-5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aссeзз.</a:t>
            </a:r>
            <a:endParaRPr sz="1088">
              <a:latin typeface="Roboto"/>
              <a:cs typeface="Roboto"/>
            </a:endParaRPr>
          </a:p>
          <a:p>
            <a:pPr marL="230712" marR="4092">
              <a:lnSpc>
                <a:spcPct val="132700"/>
              </a:lnSpc>
              <a:spcBef>
                <a:spcPts val="443"/>
              </a:spcBef>
            </a:pP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New</a:t>
            </a:r>
            <a:r>
              <a:rPr sz="1088" b="1" spc="-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Digital</a:t>
            </a:r>
            <a:r>
              <a:rPr sz="1088" b="1" spc="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dirty="0">
                <a:solidFill>
                  <a:srgbClr val="15203F"/>
                </a:solidFill>
                <a:latin typeface="Roboto"/>
                <a:cs typeface="Roboto"/>
              </a:rPr>
              <a:t>Services</a:t>
            </a:r>
            <a:r>
              <a:rPr sz="1088" b="1" spc="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b="1" spc="-8" dirty="0">
                <a:solidFill>
                  <a:srgbClr val="15203F"/>
                </a:solidFill>
                <a:latin typeface="Roboto"/>
                <a:cs typeface="Roboto"/>
              </a:rPr>
              <a:t>Launched: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Expanded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оfferingз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like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inзtant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lоan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apprоvalз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mоbile banking.</a:t>
            </a:r>
            <a:endParaRPr sz="1088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4004" y="5534768"/>
            <a:ext cx="4648714" cy="437885"/>
          </a:xfrm>
          <a:prstGeom prst="rect">
            <a:avLst/>
          </a:prstGeom>
        </p:spPr>
        <p:txBody>
          <a:bodyPr vert="horz" wrap="square" lIns="0" tIns="10232" rIns="0" bIns="0" rtlCol="0">
            <a:spAutoFit/>
          </a:bodyPr>
          <a:lstStyle/>
          <a:p>
            <a:pPr marL="10231" marR="4092">
              <a:lnSpc>
                <a:spcPct val="134300"/>
              </a:lnSpc>
              <a:spcBef>
                <a:spcPts val="81"/>
              </a:spcBef>
            </a:pP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Theзe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reзultз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underзсоre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зyзtem'з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ability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tо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nоt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оnly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mоdernize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banking оperatiоnз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but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alзо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build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truзt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fозter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grоwth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in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соmpetitive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market.</a:t>
            </a:r>
            <a:endParaRPr sz="1088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0794" y="0"/>
            <a:ext cx="9208413" cy="5279490"/>
          </a:xfrm>
          <a:custGeom>
            <a:avLst/>
            <a:gdLst/>
            <a:ahLst/>
            <a:cxnLst/>
            <a:rect l="l" t="t" r="r" b="b"/>
            <a:pathLst>
              <a:path w="11430000" h="6553200">
                <a:moveTo>
                  <a:pt x="11430000" y="0"/>
                </a:moveTo>
                <a:lnTo>
                  <a:pt x="0" y="0"/>
                </a:lnTo>
                <a:lnTo>
                  <a:pt x="0" y="6553200"/>
                </a:lnTo>
                <a:lnTo>
                  <a:pt x="11430000" y="65532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CF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6052" y="1"/>
            <a:ext cx="3453155" cy="527948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89" rIns="0" bIns="0" rtlCol="0">
            <a:spAutoFit/>
          </a:bodyPr>
          <a:lstStyle/>
          <a:p>
            <a:pPr marL="10231">
              <a:spcBef>
                <a:spcPts val="101"/>
              </a:spcBef>
            </a:pPr>
            <a:r>
              <a:rPr spc="161" dirty="0"/>
              <a:t>Conclusion</a:t>
            </a:r>
            <a:r>
              <a:rPr spc="40" dirty="0"/>
              <a:t> </a:t>
            </a:r>
            <a:r>
              <a:rPr dirty="0"/>
              <a:t>&amp;</a:t>
            </a:r>
            <a:r>
              <a:rPr spc="40" dirty="0"/>
              <a:t> </a:t>
            </a:r>
            <a:r>
              <a:rPr spc="169" dirty="0"/>
              <a:t>Next</a:t>
            </a:r>
            <a:r>
              <a:rPr spc="40" dirty="0"/>
              <a:t> </a:t>
            </a:r>
            <a:r>
              <a:rPr spc="113" dirty="0"/>
              <a:t>Steps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4236" y="2056546"/>
            <a:ext cx="2325124" cy="1534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84004" y="2149909"/>
            <a:ext cx="2211042" cy="921697"/>
          </a:xfrm>
          <a:prstGeom prst="rect">
            <a:avLst/>
          </a:prstGeom>
        </p:spPr>
        <p:txBody>
          <a:bodyPr vert="horz" wrap="square" lIns="0" tIns="13813" rIns="0" bIns="0" rtlCol="0">
            <a:spAutoFit/>
          </a:bodyPr>
          <a:lstStyle/>
          <a:p>
            <a:pPr marL="10231">
              <a:spcBef>
                <a:spcPts val="109"/>
              </a:spcBef>
            </a:pPr>
            <a:r>
              <a:rPr sz="1329" spc="85" dirty="0">
                <a:solidFill>
                  <a:srgbClr val="15203F"/>
                </a:solidFill>
                <a:latin typeface="Cambria"/>
                <a:cs typeface="Cambria"/>
              </a:rPr>
              <a:t>Review</a:t>
            </a:r>
            <a:r>
              <a:rPr sz="1329" spc="52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68" dirty="0">
                <a:solidFill>
                  <a:srgbClr val="15203F"/>
                </a:solidFill>
                <a:latin typeface="Cambria"/>
                <a:cs typeface="Cambria"/>
              </a:rPr>
              <a:t>the</a:t>
            </a:r>
            <a:r>
              <a:rPr sz="1329" spc="52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77" dirty="0">
                <a:solidFill>
                  <a:srgbClr val="15203F"/>
                </a:solidFill>
                <a:latin typeface="Cambria"/>
                <a:cs typeface="Cambria"/>
              </a:rPr>
              <a:t>Full</a:t>
            </a:r>
            <a:r>
              <a:rPr sz="1329" spc="56" dirty="0">
                <a:solidFill>
                  <a:srgbClr val="15203F"/>
                </a:solidFill>
                <a:latin typeface="Cambria"/>
                <a:cs typeface="Cambria"/>
              </a:rPr>
              <a:t> Proposal</a:t>
            </a:r>
            <a:endParaRPr sz="1329">
              <a:latin typeface="Cambria"/>
              <a:cs typeface="Cambria"/>
            </a:endParaRPr>
          </a:p>
          <a:p>
            <a:pPr marL="10231" marR="4092">
              <a:lnSpc>
                <a:spcPct val="134300"/>
              </a:lnSpc>
              <a:spcBef>
                <a:spcPts val="375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Dive</a:t>
            </a:r>
            <a:r>
              <a:rPr sz="1088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deeper</a:t>
            </a:r>
            <a:r>
              <a:rPr sz="1088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into</a:t>
            </a:r>
            <a:r>
              <a:rPr sz="1088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088" spc="-5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technical specifications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2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detailed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features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of</a:t>
            </a:r>
            <a:r>
              <a:rPr sz="1088" spc="-1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our</a:t>
            </a:r>
            <a:r>
              <a:rPr sz="1088" spc="-1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system.</a:t>
            </a:r>
            <a:endParaRPr sz="1088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4004" y="968929"/>
            <a:ext cx="4589882" cy="1037498"/>
          </a:xfrm>
          <a:prstGeom prst="rect">
            <a:avLst/>
          </a:prstGeom>
        </p:spPr>
        <p:txBody>
          <a:bodyPr vert="horz" wrap="square" lIns="0" tIns="13813" rIns="0" bIns="0" rtlCol="0">
            <a:spAutoFit/>
          </a:bodyPr>
          <a:lstStyle/>
          <a:p>
            <a:pPr marL="10231" marR="4092">
              <a:lnSpc>
                <a:spcPct val="131900"/>
              </a:lnSpc>
              <a:spcBef>
                <a:spcPts val="109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mini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bank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management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system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offers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comprehensive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solution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for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modern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financial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institutions,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emphasizing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efficiency,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security,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20" dirty="0">
                <a:solidFill>
                  <a:srgbClr val="15203F"/>
                </a:solidFill>
                <a:latin typeface="Roboto"/>
                <a:cs typeface="Roboto"/>
              </a:rPr>
              <a:t>and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exceptional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customer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experience.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We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invite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you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explore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its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full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potential.</a:t>
            </a:r>
            <a:endParaRPr sz="1088">
              <a:latin typeface="Roboto"/>
              <a:cs typeface="Roboto"/>
            </a:endParaRPr>
          </a:p>
          <a:p>
            <a:pPr>
              <a:spcBef>
                <a:spcPts val="230"/>
              </a:spcBef>
            </a:pPr>
            <a:endParaRPr sz="1088">
              <a:latin typeface="Roboto"/>
              <a:cs typeface="Roboto"/>
            </a:endParaRPr>
          </a:p>
          <a:p>
            <a:pPr marL="11765">
              <a:tabLst>
                <a:tab pos="2465188" algn="l"/>
              </a:tabLst>
            </a:pPr>
            <a:r>
              <a:rPr sz="1088" spc="-20" dirty="0">
                <a:solidFill>
                  <a:srgbClr val="15203F"/>
                </a:solidFill>
                <a:latin typeface="Trebuchet MS"/>
                <a:cs typeface="Trebuchet MS"/>
              </a:rPr>
              <a:t>01</a:t>
            </a:r>
            <a:r>
              <a:rPr sz="1088" dirty="0">
                <a:solidFill>
                  <a:srgbClr val="15203F"/>
                </a:solidFill>
                <a:latin typeface="Trebuchet MS"/>
                <a:cs typeface="Trebuchet MS"/>
              </a:rPr>
              <a:t>	</a:t>
            </a:r>
            <a:r>
              <a:rPr sz="1088" spc="-20" dirty="0">
                <a:solidFill>
                  <a:srgbClr val="15203F"/>
                </a:solidFill>
                <a:latin typeface="Trebuchet MS"/>
                <a:cs typeface="Trebuchet MS"/>
              </a:rPr>
              <a:t>02</a:t>
            </a:r>
            <a:endParaRPr sz="1088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57486" y="2056546"/>
            <a:ext cx="2325124" cy="1534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47255" y="2149909"/>
            <a:ext cx="2343541" cy="921697"/>
          </a:xfrm>
          <a:prstGeom prst="rect">
            <a:avLst/>
          </a:prstGeom>
        </p:spPr>
        <p:txBody>
          <a:bodyPr vert="horz" wrap="square" lIns="0" tIns="13813" rIns="0" bIns="0" rtlCol="0">
            <a:spAutoFit/>
          </a:bodyPr>
          <a:lstStyle/>
          <a:p>
            <a:pPr marL="10231">
              <a:spcBef>
                <a:spcPts val="109"/>
              </a:spcBef>
            </a:pPr>
            <a:r>
              <a:rPr sz="1329" spc="89" dirty="0">
                <a:solidFill>
                  <a:srgbClr val="15203F"/>
                </a:solidFill>
                <a:latin typeface="Cambria"/>
                <a:cs typeface="Cambria"/>
              </a:rPr>
              <a:t>Schedule</a:t>
            </a:r>
            <a:r>
              <a:rPr sz="1329" spc="52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101" dirty="0">
                <a:solidFill>
                  <a:srgbClr val="15203F"/>
                </a:solidFill>
                <a:latin typeface="Cambria"/>
                <a:cs typeface="Cambria"/>
              </a:rPr>
              <a:t>a</a:t>
            </a:r>
            <a:r>
              <a:rPr sz="1329" spc="52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73" dirty="0">
                <a:solidFill>
                  <a:srgbClr val="15203F"/>
                </a:solidFill>
                <a:latin typeface="Cambria"/>
                <a:cs typeface="Cambria"/>
              </a:rPr>
              <a:t>Live</a:t>
            </a:r>
            <a:r>
              <a:rPr sz="1329" spc="52" dirty="0">
                <a:solidFill>
                  <a:srgbClr val="15203F"/>
                </a:solidFill>
                <a:latin typeface="Cambria"/>
                <a:cs typeface="Cambria"/>
              </a:rPr>
              <a:t> Demo</a:t>
            </a:r>
            <a:endParaRPr sz="1329">
              <a:latin typeface="Cambria"/>
              <a:cs typeface="Cambria"/>
            </a:endParaRPr>
          </a:p>
          <a:p>
            <a:pPr marL="10231" marR="4092">
              <a:lnSpc>
                <a:spcPct val="134300"/>
              </a:lnSpc>
              <a:spcBef>
                <a:spcPts val="375"/>
              </a:spcBef>
            </a:pP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Experience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the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system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firsthand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16" dirty="0">
                <a:solidFill>
                  <a:srgbClr val="15203F"/>
                </a:solidFill>
                <a:latin typeface="Roboto"/>
                <a:cs typeface="Roboto"/>
              </a:rPr>
              <a:t>with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 personalized demonstration</a:t>
            </a:r>
            <a:r>
              <a:rPr sz="1088" spc="-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tailored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to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your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needs.</a:t>
            </a:r>
            <a:endParaRPr sz="1088">
              <a:latin typeface="Roboto"/>
              <a:cs typeface="Roboto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4235" y="3575934"/>
            <a:ext cx="4788375" cy="1534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576810" y="3350839"/>
            <a:ext cx="4599091" cy="1490930"/>
          </a:xfrm>
          <a:prstGeom prst="rect">
            <a:avLst/>
          </a:prstGeom>
        </p:spPr>
        <p:txBody>
          <a:bodyPr vert="horz" wrap="square" lIns="0" tIns="10232" rIns="0" bIns="0" rtlCol="0">
            <a:spAutoFit/>
          </a:bodyPr>
          <a:lstStyle/>
          <a:p>
            <a:pPr marL="10231">
              <a:spcBef>
                <a:spcPts val="81"/>
              </a:spcBef>
            </a:pPr>
            <a:r>
              <a:rPr sz="1088" spc="-20" dirty="0">
                <a:solidFill>
                  <a:srgbClr val="15203F"/>
                </a:solidFill>
                <a:latin typeface="Trebuchet MS"/>
                <a:cs typeface="Trebuchet MS"/>
              </a:rPr>
              <a:t>03</a:t>
            </a:r>
            <a:endParaRPr sz="1088">
              <a:latin typeface="Trebuchet MS"/>
              <a:cs typeface="Trebuchet MS"/>
            </a:endParaRPr>
          </a:p>
          <a:p>
            <a:pPr marL="17393">
              <a:spcBef>
                <a:spcPts val="1233"/>
              </a:spcBef>
            </a:pPr>
            <a:r>
              <a:rPr sz="1329" spc="89" dirty="0">
                <a:solidFill>
                  <a:srgbClr val="15203F"/>
                </a:solidFill>
                <a:latin typeface="Cambria"/>
                <a:cs typeface="Cambria"/>
              </a:rPr>
              <a:t>Begin</a:t>
            </a:r>
            <a:r>
              <a:rPr sz="1329" spc="56" dirty="0">
                <a:solidFill>
                  <a:srgbClr val="15203F"/>
                </a:solidFill>
                <a:latin typeface="Cambria"/>
                <a:cs typeface="Cambria"/>
              </a:rPr>
              <a:t> </a:t>
            </a:r>
            <a:r>
              <a:rPr sz="1329" spc="73" dirty="0">
                <a:solidFill>
                  <a:srgbClr val="15203F"/>
                </a:solidFill>
                <a:latin typeface="Cambria"/>
                <a:cs typeface="Cambria"/>
              </a:rPr>
              <a:t>Implementation</a:t>
            </a:r>
            <a:endParaRPr sz="1329">
              <a:latin typeface="Cambria"/>
              <a:cs typeface="Cambria"/>
            </a:endParaRPr>
          </a:p>
          <a:p>
            <a:pPr marL="17393">
              <a:spcBef>
                <a:spcPts val="822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Our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team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will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guide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you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through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seamless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setup</a:t>
            </a:r>
            <a:r>
              <a:rPr sz="1088" spc="-36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and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integration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process.</a:t>
            </a:r>
            <a:endParaRPr sz="1088">
              <a:latin typeface="Roboto"/>
              <a:cs typeface="Roboto"/>
            </a:endParaRPr>
          </a:p>
          <a:p>
            <a:pPr>
              <a:spcBef>
                <a:spcPts val="745"/>
              </a:spcBef>
            </a:pPr>
            <a:endParaRPr sz="1088">
              <a:latin typeface="Roboto"/>
              <a:cs typeface="Roboto"/>
            </a:endParaRPr>
          </a:p>
          <a:p>
            <a:pPr marL="17393" marR="85941">
              <a:lnSpc>
                <a:spcPct val="134300"/>
              </a:lnSpc>
              <a:spcBef>
                <a:spcPts val="4"/>
              </a:spcBef>
            </a:pP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We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are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confident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that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our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mini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bank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management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system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will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be</a:t>
            </a:r>
            <a:r>
              <a:rPr sz="1088" spc="-32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</a:t>
            </a:r>
            <a:r>
              <a:rPr sz="1088" spc="-28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pivotal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asset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for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your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institution.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Do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you</a:t>
            </a:r>
            <a:r>
              <a:rPr sz="1088" spc="-44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have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dirty="0">
                <a:solidFill>
                  <a:srgbClr val="15203F"/>
                </a:solidFill>
                <a:latin typeface="Roboto"/>
                <a:cs typeface="Roboto"/>
              </a:rPr>
              <a:t>any</a:t>
            </a:r>
            <a:r>
              <a:rPr sz="1088" spc="-40" dirty="0">
                <a:solidFill>
                  <a:srgbClr val="15203F"/>
                </a:solidFill>
                <a:latin typeface="Roboto"/>
                <a:cs typeface="Roboto"/>
              </a:rPr>
              <a:t> </a:t>
            </a:r>
            <a:r>
              <a:rPr sz="1088" spc="-8" dirty="0">
                <a:solidFill>
                  <a:srgbClr val="15203F"/>
                </a:solidFill>
                <a:latin typeface="Roboto"/>
                <a:cs typeface="Roboto"/>
              </a:rPr>
              <a:t>questions?</a:t>
            </a:r>
            <a:endParaRPr sz="1088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839</Words>
  <Application>Microsoft Office PowerPoint</Application>
  <PresentationFormat>Custom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Cambria</vt:lpstr>
      <vt:lpstr>Roboto</vt:lpstr>
      <vt:lpstr>Tahoma</vt:lpstr>
      <vt:lpstr>Trebuchet MS</vt:lpstr>
      <vt:lpstr>Verdana</vt:lpstr>
      <vt:lpstr>Office Theme</vt:lpstr>
      <vt:lpstr>Mini Bank Management System in C</vt:lpstr>
      <vt:lpstr>Table of Contents</vt:lpstr>
      <vt:lpstr>PowerPoint Presentation</vt:lpstr>
      <vt:lpstr>Introduction to Mini Bank Systems</vt:lpstr>
      <vt:lpstr>Applications and Use Cases</vt:lpstr>
      <vt:lpstr>Existing Methodologies</vt:lpstr>
      <vt:lpstr>Drawbacks of Current Approaches</vt:lpstr>
      <vt:lpstr>Proposed Methodology: Enhanced C System</vt:lpstr>
      <vt:lpstr>Advantages of the Proposed System</vt:lpstr>
      <vt:lpstr>Architecture of Proposed Methodology</vt:lpstr>
      <vt:lpstr>Mini Bank Management System: Revolutionizing Financial Services</vt:lpstr>
      <vt:lpstr>Key Achievements &amp; Impact</vt:lpstr>
      <vt:lpstr>Conclusion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JAYAVARDHAN</dc:creator>
  <cp:lastModifiedBy>JAYAVARDHAN PARNA</cp:lastModifiedBy>
  <cp:revision>2</cp:revision>
  <dcterms:created xsi:type="dcterms:W3CDTF">2025-12-02T13:26:10Z</dcterms:created>
  <dcterms:modified xsi:type="dcterms:W3CDTF">2025-12-02T13:55:13Z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2025-12-01T00:00:00Z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2025-12-02T00:00:00Z</vt:filetime>
  </property>
  <property fmtid="{D5CDD505-2E9C-101B-9397-08002B2CF9AE}" pid="5" name="Producer">
    <vt:lpwstr>GPL Ghostscript 9.56.1</vt:lpwstr>
  </property>
</Properties>
</file>